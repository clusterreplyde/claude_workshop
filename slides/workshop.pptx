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spc="4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CODE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Workshop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2743200"/>
            <a:ext cx="1828800" cy="3657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017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 |  Internal Training  | 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48691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Zero to Production — The Complete Workshop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About This Workshop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768096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80160"/>
            <a:ext cx="54864" cy="65836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28016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0" y="1280160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09:30 – 16:30 (~6 hours incl. breaks)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2103120"/>
            <a:ext cx="54864" cy="65836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10312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0" y="2103120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presentation + hands-on exercises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2926080"/>
            <a:ext cx="768096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2926080"/>
            <a:ext cx="54864" cy="65836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92608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43200" y="2926080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&amp; Solution Architects at Reply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3749040"/>
            <a:ext cx="768096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3749040"/>
            <a:ext cx="54864" cy="65836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4904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743200" y="3749040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overview of the entire Claude Code ecosystem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54864" cy="7498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188720"/>
            <a:ext cx="1828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09:30 – 11:00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926080" y="126187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1: Getting Started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926080" y="15727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· Setup · First Session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768096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2103120"/>
            <a:ext cx="54864" cy="7498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103120"/>
            <a:ext cx="1828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11:15 – 12:30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926080" y="217627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2: Making Claude Yours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926080" y="24871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· Skills · Subagents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768096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3017520"/>
            <a:ext cx="54864" cy="74980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017520"/>
            <a:ext cx="1828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13:30 – 15:00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926080" y="309067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3: Integration &amp; Automation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926080" y="34015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· Hooks · CLI &amp; Headless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3931920"/>
            <a:ext cx="768096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" y="3931920"/>
            <a:ext cx="54864" cy="7498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3931920"/>
            <a:ext cx="1828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15:15 – 16:30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926080" y="400507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4: The Big Picture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26080" y="43159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Plugins · Remote · Best Practices · Capstone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 coffee breaks (11:00, 15:00) and lunch (12:30–13:30)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Getting Started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zero to first productive session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5661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Ecosystem (15 min)  ·  M2 Setup (15 min)  ·  M3 Interactive Session (35 min)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48691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09:30 – 11:00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Claude Ecosystem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is more than Code — understanding the full product landscape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1828800" cy="2560320"/>
          </a:xfrm>
          <a:prstGeom prst="rect">
            <a:avLst/>
          </a:prstGeom>
          <a:solidFill>
            <a:srgbClr val="EFF6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1508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Web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68680" y="1920240"/>
            <a:ext cx="914400" cy="228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05740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· Projects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· Memory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Instructions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0" y="1371600"/>
            <a:ext cx="1828800" cy="2560320"/>
          </a:xfrm>
          <a:prstGeom prst="rect">
            <a:avLst/>
          </a:prstGeom>
          <a:solidFill>
            <a:srgbClr val="F5F3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880360" y="1508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Apps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880360" y="1920240"/>
            <a:ext cx="914400" cy="228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Text 11"/>
          <p:cNvSpPr/>
          <p:nvPr/>
        </p:nvSpPr>
        <p:spPr>
          <a:xfrm>
            <a:off x="2880360" y="205740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(macOS/Win)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(iOS/Android)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Extension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1371600"/>
            <a:ext cx="1828800" cy="2560320"/>
          </a:xfrm>
          <a:prstGeom prst="rect">
            <a:avLst/>
          </a:prstGeom>
          <a:solidFill>
            <a:srgbClr val="ECFDF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892040" y="1508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92040" y="1920240"/>
            <a:ext cx="914400" cy="228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Text 15"/>
          <p:cNvSpPr/>
          <p:nvPr/>
        </p:nvSpPr>
        <p:spPr>
          <a:xfrm>
            <a:off x="4892040" y="205740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CLI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· JetBrains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· Web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66560" y="1371600"/>
            <a:ext cx="1828800" cy="2560320"/>
          </a:xfrm>
          <a:prstGeom prst="rect">
            <a:avLst/>
          </a:prstGeom>
          <a:solidFill>
            <a:srgbClr val="FFFBEB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903720" y="1508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903720" y="1920240"/>
            <a:ext cx="914400" cy="228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6903720" y="205740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API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 · Sonnet · Haiku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 · Vision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SDK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Code vs. Claude Web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005840"/>
          <a:ext cx="76809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32918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Web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Uploaded files, conversation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Entire codebase, terminal, git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Chat, generate artifacts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Read/write/edit files, shell, git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Browser-based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Terminal, IDE, CI/CD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Autonomy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Responds to prompts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Plans + executes multi-step tasks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MCP, hooks, skills, subagents, plugins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38404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Capabilities: Built-in Tools · CLAUDE.md · Skills · Subagents · MCP · Hooks · Plugins · Headless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When to Use What · Subscription Tiers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14400"/>
          <a:ext cx="3657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Quick question, research, writing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Claude.ai (Web/Mobile)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Write, debug, or refactor 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 (Terminal/IDE)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 code review in CI/CD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 (Headless)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a custom AI-powered tool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API + Agent SDK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 browser tasks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in Chrome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914400"/>
          <a:ext cx="3657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$20/mo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5x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$100/mo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20x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$200/mo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Prem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$125/seat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731520" y="42062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requires Pro, Max, Team Premium, Enterprise — or an API key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Quick Tour of Claude.ai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claude.ai and log 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03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5740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Project — name it "Workshop Sandbox"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6060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6032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Custom Instructions for .NET/AKS context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1089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08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6324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"Key components for a .NET microservice on AKS?"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611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611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6616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and edit the generated Artifact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Projects + Custom Instructions = same concept as CLAUDE.md in Claude Code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Installation &amp; Setup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zero to first session — getting Claude Code running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Install (Recommended)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curl -fsSL https://claude.ai/install.sh | bash  ·  brew install --cask claude-code  ·  winget install Anthropic.ClaudeCode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Installation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--version  ·  claude doctor  ·  claude update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login (default) · API Key (ANTHROPIC_API_KEY) · AWS Bedrock · Google Vertex AI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Extensions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Code: Marketplace install, inline diffs, checkpoints  ·  JetBrains: IntelliJ, Rider, WebStorm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Install &amp; First Session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Claude Code (native or npm)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087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087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4216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claude doctor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5755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755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2984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(browser login or API key)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0632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0632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1752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first session: claude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5509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5509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0520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Explore: /help, /model, /cost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40386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0386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34440" y="399288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VS Code Extension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Context: Check corporate proxy (HTTP_PROXY), Bedrock/Vertex for BMW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Interactive Session Basics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Mastering the daily workflow — the agentic loop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246888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13716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Gather Context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173736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files, search codebase, understand the problem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74720" y="1280160"/>
            <a:ext cx="246888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11880" y="13716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Take Action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11880" y="173736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code, run commands, make changes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280160"/>
            <a:ext cx="246888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55080" y="13716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Verify Results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55080" y="173736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tests, check output, validate the fix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743200"/>
          <a:ext cx="76809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3949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/ Edit / Write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operations — read, modify, create files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shell commands, scripts, git, tests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Grep / Glob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content (regex) / find files (patterns)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WebFetch / WebSearch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 URLs / search the web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Spawn subagents for parallel 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Management &amp; Model Selection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14400"/>
          <a:ext cx="76809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3949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/context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 loaded context, token costs per 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/compact [focus]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Compress conversation history (directional with focus)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/clear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Reset context entirely — start fresh session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/cost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 token usage and API costs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Switch models mid-session (Opus, Sonnet, Haiku)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@file / @folder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specific files or directories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 file | claude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 content directly into Claude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41148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Option+P (Mac) / Alt+P (Win) to quickly switch models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Permissions · Checkpoints · Shortcuts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14400"/>
          <a:ext cx="76809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017520"/>
                <a:gridCol w="30175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 approval for edits &amp; commands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First-time setup, learning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acceptEdits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Auto-approve edits, ask for commands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Edit-heavy tasks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Read-only, no execution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 before acting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Background safety classifier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CI/CD, automation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926080"/>
          <a:ext cx="76809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852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Shortcut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Claude mid-action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 ×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rewind menu (checkpoints)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Shift+Tab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 permission modes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Ctrl+B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Background long-running commands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! prefix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bash mode (bypass Claude)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Find a Bug, Fix &amp; Commit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a sample repository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087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087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4216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Claude Code session in the repo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5755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755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2984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Claude to find bugs or issues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0632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0632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1752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Claude fix the issue and run tests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5509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5509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0520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diff and commit changes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40386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0386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34440" y="399288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/rewind to undo and redo differently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on a .NET/C# project or Terraform module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Making Claude Yours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memory, workflows, delegation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5661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 CLAUDE.md &amp; Rules (20 min)  ·  M5 Skills &amp; Commands (30 min)  ·  M6 Subagents (25 min)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48691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11:15 – 12:30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CLAUDE.md &amp; Rules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Claude how YOUR project works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CLAUDE.md?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memory that persists across sessions. Markdown file with coding standards, architecture, build commands.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Levels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(~/.claude/CLAUDE.md) → Project (./CLAUDE.md) → Directory (./src/CLAUDE.md). All concatenated, more specific wins.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/init &amp; # Shortcut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/init auto-generates from codebase. # shortcut adds conventions during work.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.claude/rules/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Path-specific rules with YAML frontmatter. Rules only load when matching files are opened. Saves context.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to Include vs. Exclude</a:t>
            </a:r>
            <a:endParaRPr lang="en-US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14400"/>
          <a:ext cx="768096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8404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Include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 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Build/test commands Claude can't guess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Things Claude sees from 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style rules differing from defaults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language conventions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Repository etiquette (branch naming, PRs)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Detailed API documentation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 decisions specific to project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explanations or tutorials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 environment quirks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Frequently changing information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34747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Under ~200 lines per file  ·  Use @imports for external references  ·  Version-control as team asset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31520" y="39319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.claude/rules/ Example: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paths: ["src/api/**/*.ts"]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API endpoints must include input validation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Create a CLAUDE.md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CLAUDE.md manually for a sample project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03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5740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Include: build commands, code style, architecture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6060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6032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/init and compare auto-generated version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1089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08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6324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.claude/rules/testing.md with path filter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611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611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6616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Does Claude follow the rules?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BMW Context: CLAUDE.md for AKS + Helm + .NET conventions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&amp; Commands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workflows and knowledge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(Recommended)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.claude/skills/&lt;name&gt;/SKILL.md with YAML frontmatter. Reference skills (auto-loaded knowledge) or Action skills (invocable /name)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Frontmatter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description, allowed-tools, context: fork, disable-model-invocation, paths, model, argument-hint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(Simple)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.claude/commands/&lt;name&gt;.md — Markdown with $ARGUMENTS. Quick alternative for simple prompts.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Bundled Skills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/batch (parallel changes), /debug (troubleshoot), /simplify (code quality), /loop (repeat prompts)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 Anatomy &amp; Dynamic Context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3657600" cy="25603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005840"/>
            <a:ext cx="3291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review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Review code quality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allowed-tools: Read Grep Glob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context: fork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agent: Explore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 $ARGUMENTS for: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Security issues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Performance problems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Best practice violations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754880" y="9144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$ARGUMENTS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17043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 passed to skill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54880" y="142646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context: fork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754880" y="1682496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isolated subagent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193852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allowed-tools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0" y="21945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 available tools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0" y="24505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!`command`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706624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context injection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2962656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paths: ["*.ts"]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321868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Auto-load for matching files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8404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Priority: Enterprise &gt; Personal (~/.claude/skills/) &gt; Project (.claude/skills/) &gt; Plugin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Build a Skill &amp; Command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.claude/commands/review.md with $ARGUMENTS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03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5740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it: /review src/main.ts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6060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6032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.claude/skills/validate/SKILL.md with frontmatter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1089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08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6324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context: fork and allowed-tools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611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611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6616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automatic invocation vs. manual /validate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= reusable workflows, Commands = simple prompts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Subagents &amp; Agent Teams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complexity through delegation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context, own tools, returns summary. .claude/agents/&lt;name&gt;.md with frontmatter.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Agents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(Haiku, read-only, fast) · Plan (read-only, strategy) · general-purpose (all tools)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Invocation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· @-mention (@"reviewer (agent)") · CLI (claude --agent name) · Task(...) dynamic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Teams (Experimental)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independent sessions coordinating via shared task list + peer-to-peer messaging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Subagent Definition &amp; Patterns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3657600" cy="201168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005840"/>
            <a:ext cx="3291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code-reviewer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Reviews code quality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 Read, Grep, Glob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sonnet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maxTurns: 10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are a senior code reviewer.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Focus on security, performance,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best practices.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914400"/>
          <a:ext cx="3840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10058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Master-Clone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Identical workers, same task on different areas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Lead-Specialist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roles (reviewer, tester, documenter)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Teams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 sessions, shared task list, messaging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32004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fields: name, description, tools, model, maxTurns, skills, mcpServers, memory, isolation (worktree)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1520" y="35661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Teams: CLAUDE_CODE_EXPERIMENTAL_AGENT_TEAMS=1  ·  Shift+Down to cycle teammates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Define a Code Review Subagent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.claude/agents/reviewer.md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03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5740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tools: Read, Grep, Glob (read-only)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6060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6032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model: sonnet, maxTurns: 10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1089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08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6324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review prompt in markdown body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611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611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6616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@"reviewer (agent)" review the auth module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BMW Context: Terraform validation agent, Helm chart auditor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Integration &amp; Automation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tools, quality gates, pipelines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5661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 MCP (35 min)  ·  M8 Hooks (25 min)  ·  M9 CLI &amp; Headless (25 min)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48691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13:30 – 15:00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MCP: External Connections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Claude to the outside world via Model Context Protocol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MCP?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— open standard for connecting AI to external tools and data sources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Types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(recommended for cloud) · stdio (local processes) · SSE (deprecated)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Scopes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(~/.claude.json per project) &gt; Project (.mcp.json, committed) &gt; User (~/.claude.json global)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Jira, databases, Slack, Figma, monitoring (Sentry), filesystem — 100+ servers available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 Installation &amp; Configuration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7680960" cy="9144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960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HTTP (cloud services)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mcp add --transport http notion https://mcp.notion.com/mcp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stdio (local processes)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mcp add --transport stdio github -- npx -y @anthropic-ai/github-mcp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011680"/>
          <a:ext cx="7680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mcp add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 a new MCP server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mcp list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all configured servers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mcp get &lt;name&gt;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server details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mcp remove &lt;name&gt;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 server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/mcp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status in session (health, token costs)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--scope project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Save to .mcp.json (team-shared, committed)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42062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Important: All flags must come BEFORE server name. -- separates Claude flags from server command.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Set Up GitHub MCP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GitHub MCP: claude mcp add github -- npx ...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03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5740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status: /mcp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6060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6032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Claude to list open issues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1089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08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6324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issue from Claude Code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611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611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6616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Try: read a PR diff, comment on it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Context: GitHub Enterprise MCP for BMW repos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M8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Hooks: Guaranteeing Determinism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that ALWAYS runs — independent of the LLM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Hooks?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code at lifecycle points. NOT controlled by Claude — always runs, guaranteed.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hooks (shell scripts) · HTTP hooks (POST to URL) · Async hooks (fire-and-forget)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Control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0 = continue · Exit 2 = block tool · JSON stdout: message, feedback, suppressOutput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Skills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= deterministic (always runs) · Skills = LLM-driven (Claude decides when to use)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M8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Lifecycle Events &amp; Use Cases</a:t>
            </a:r>
            <a:endParaRPr lang="en-US" sz="24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14400"/>
          <a:ext cx="4114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468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It Fires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PreToolUse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a tool executes (block or modify)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PostToolUse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a tool executes (react to results)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SessionStart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session begins (inject context)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UserPromptSubmit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user sends a message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Claude finishes (notify, log)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SubagentStop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a subagent completes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PreCompact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context compaction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TaskCompleted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a background task finishes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914400"/>
          <a:ext cx="33832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737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Auto-format on edit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PostToolUse + Write → prettier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rm -rf /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PreToolUse + Bash → exit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Notify on complete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→ desktop notification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Auto-test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PostToolUse + Write(*.test.*) → jest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Inject date/info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SessionStart → stdout context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731520" y="41148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Configure: /hooks (interactive) or .claude/settings.json (manual)  ·  Matchers: tool name, file patterns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Build an Auto-Formatter Hook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/hooks (interactive configuration)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03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5740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PostToolUse hook for Write/Edit tools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6060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6032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Script: run prettier on the edited file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1089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08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6324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make Claude edit a JS file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611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611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6616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file is auto-formatted after edit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BMW Context: Terraform fmt, Helm lint as hooks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M9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CLI &amp; Headless Mode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in the pipeline — automation and CI/CD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 Mode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-p "prompt" — non-interactive execution. --output-format json|stream-json for machine output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Control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--allowedTools / --disallowedTools with wildcards: Bash(git *), Edit(*.ts)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Schema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--max-budget-usd for cost limits · --json-schema for structured output with validation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Worktrees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--worktree for isolated parallel sessions · --tmux for tmux integration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M9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CI/CD · Dispatch · Agent SDK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 Example: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4572000" cy="146304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280160"/>
            <a:ext cx="4206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name: Review PR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env: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ANTHROPIC_API_KEY: ${{ secrets.KEY }}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run: |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claude -p "Review this PR" \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--output-format json \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--max-budget-usd 1.00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0" y="914400"/>
            <a:ext cx="292608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0" y="914400"/>
            <a:ext cx="54864" cy="7772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0" y="9601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0" y="126187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Claude Code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programmatically via REST API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0" y="1828800"/>
            <a:ext cx="292608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0" y="1828800"/>
            <a:ext cx="54864" cy="7772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0" y="1874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Tasks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69280" y="217627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jobs on Anthropic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0" y="2743200"/>
            <a:ext cx="292608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0" y="2743200"/>
            <a:ext cx="54864" cy="7772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0" y="27889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SDK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669280" y="309067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@anthropic-ai/claude-agent-sdk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library for custom agents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1520" y="41148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Session: --continue · --resume · --session-id · --fork-session · -n name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Write a GitHub Action for PR Review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.github/workflows/claude-review.yml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087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087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4216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Configure: on pull_request trigger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5755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755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2984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claude -p with --output-format json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0632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0632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1752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--max-budget-usd for cost control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5509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5509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0520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ANTHROPIC_API_KEY as GitHub secret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40386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0386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34440" y="399288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with a sample PR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BMW Context: Terraform plan review, Helm chart validation in CI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Big Picture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Remote, settings, best practices, capstone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5661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M10 Plugins (10) · M11 Remote (15) · M12 Settings (10) · M13 Best Practices (15) · M14 Capstone (25)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48691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15:15 – 16:30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M10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Plugins &amp; Marketplace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 and reusing workflows across teams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Plugin?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of skills, commands, hooks, agents, MCP servers. Installed as one package.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Namespaced Skills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/my-plugin:review — multiple plugins coexist. No naming conflicts.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&amp; Manage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plugin install &lt;name&gt; · claude plugin list · claude plugin remove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marketplace for shared plugins. Or create your own Git-based marketplace.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M10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Plugin Structure &amp; Distribution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3657600" cy="237744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005840"/>
            <a:ext cx="32918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my-plugin/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.claude-plugin/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plugin.json      # Manifest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skills/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review/SKILL.md  # Skills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agents/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reviewer.md      # Subagents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hooks/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hooks.json       # Hook configs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.mcp.json            # MCP servers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README.md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914400"/>
          <a:ext cx="3840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${CLAUDE_PLUGIN_ROOT}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Plugin installation directory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${CLAUDE_PLUGIN_DATA}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 data (survives updates)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0" y="21031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plugins: Reuse across repos · Distribute to teams · Package complex setups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Install and explore a plugin from the marketplace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Code Remote &amp; Web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without local installation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Browser-Based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claude.ai/code — no local install needed. Available for Max/Enterprise users.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→ Terminal: --teleport · Terminal → Web: --remote · Ultraplan: cloud-based planning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Control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sessions, pair-programming. --remote-control-session-name-prefix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agent for non-technical users. VM-based sandbox, local file access, multi-step workflows.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When Remote vs. Local?</a:t>
            </a:r>
            <a:endParaRPr lang="en-US" sz="24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14400"/>
          <a:ext cx="76809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3566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Choice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 new developer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(Web)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setup, instant start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 programming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(shared)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see same session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 local tooling needed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(CLI)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system access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CI/CD pipelines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Headless (CLI)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Automation, API key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Air-gapped environment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(CLI)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cloud dependency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Non-technical user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sandbox, file access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38404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Start a Claude Code Web session and compare to local CLI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Settings, Configuration &amp; Security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and enterprise context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1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097280"/>
          <a:ext cx="7680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4023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(highest)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(Enterprise)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directories (MDM)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 Flags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--permission-mode, --model, etc.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(Personal)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settings.local.json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(Team)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.claude/settings.json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(lowest)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(Global)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~/.claude/settings.json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36576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rules: Bash(git *)  ·  Edit(*.ts)  ·  Wildcards for fine-grained control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4023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Context: Corporate proxy (HTTP_PROXY), data privacy requirements at BMW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Best Practices &amp; Patterns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from experience — getting the most out of Claude Code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Hygiene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/clear for new tasks · /compact [focus] for long sessions · /context to inspect token costs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Rot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gets worse as conversation grows. Noise accumulates, instructions dilute. Start fresh often.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First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Plan mode (Shift+Tab) for complex features. Review approach before execution.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Hygiene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specific but don't micromanage. Let Claude explore. Provide examples, not step-by-step.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Feature Comparison — When to Use What</a:t>
            </a:r>
            <a:endParaRPr lang="en-US" sz="24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14400"/>
          <a:ext cx="7680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3566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CLAUDE.md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Project-wide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conventions, build commands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.claude/rules/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file match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Path-specific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Language-specific, directory rules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invoke/match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Workflows, templates, automations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Subagents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delegation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Focused tasks, parallel 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(event)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gates, formatting, notifications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Plugins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enable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packages, marketplace sharing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38404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Principles: Start fresh often · Plan before acting · CLAUDE.md is a team asset · Use the right abstraction level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Capstone: Putting It All Together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empty repo to productive setup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18872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188720"/>
            <a:ext cx="54864" cy="9144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234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CLAUDE.md + Rules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6459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memory with path-specific rules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28600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" y="2286000"/>
            <a:ext cx="54864" cy="9144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331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Custom Skill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2743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SKILL.md with frontmatter, auto-invocation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38328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3383280"/>
            <a:ext cx="54864" cy="9144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429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Subagent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" y="3840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reviewer with restricted tools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46320" y="118872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1188720"/>
            <a:ext cx="54864" cy="9144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0" y="1234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MCP Server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0" y="16459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GitHub or filesystem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46320" y="228600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46320" y="2286000"/>
            <a:ext cx="54864" cy="9144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0" y="2331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Hook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0" y="2743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Auto-format on edit, block dangerous commands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46320" y="338328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846320" y="3383280"/>
            <a:ext cx="54864" cy="9144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0" y="3429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CI/CD Sketch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029200" y="3840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 YAML for PR review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CRITERIA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Does Your Setup Pass?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7680960" cy="502920"/>
          </a:xfrm>
          <a:prstGeom prst="rect">
            <a:avLst/>
          </a:prstGeom>
          <a:solidFill>
            <a:srgbClr val="1A225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45920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64592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team member gets productive just by cloning the repo?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286000"/>
            <a:ext cx="7680960" cy="502920"/>
          </a:xfrm>
          <a:prstGeom prst="rect">
            <a:avLst/>
          </a:prstGeom>
          <a:solidFill>
            <a:srgbClr val="1A2250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286000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28600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gates enforced automatically (hooks)?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2926080"/>
            <a:ext cx="7680960" cy="502920"/>
          </a:xfrm>
          <a:prstGeom prst="rect">
            <a:avLst/>
          </a:prstGeom>
          <a:solidFill>
            <a:srgbClr val="1A2250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926080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71600" y="292608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can access relevant external systems (MCP)?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3566160"/>
            <a:ext cx="7680960" cy="502920"/>
          </a:xfrm>
          <a:prstGeom prst="rect">
            <a:avLst/>
          </a:prstGeom>
          <a:solidFill>
            <a:srgbClr val="1A2250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66160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356616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conventions encoded, not just documented (skills)?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1520" y="43891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Everyone leaves with a working, personalized Claude Code setup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You!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3657600" y="2468880"/>
            <a:ext cx="1828800" cy="3657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7432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Deep Dive Workshop  ·  Reply  ·  2026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474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docs.claude.com  ·  code.claude.com  ·  github.com/anthropics/claude-code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48691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Zero to Production — The Complete Workshop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Deep Dive Workshop</dc:title>
  <dc:subject>PptxGenJS Presentation</dc:subject>
  <dc:creator>Marco Berngehrer</dc:creator>
  <cp:lastModifiedBy>Marco Berngehrer</cp:lastModifiedBy>
  <cp:revision>1</cp:revision>
  <dcterms:created xsi:type="dcterms:W3CDTF">2026-04-07T18:22:21Z</dcterms:created>
  <dcterms:modified xsi:type="dcterms:W3CDTF">2026-04-07T18:22:21Z</dcterms:modified>
</cp:coreProperties>
</file>