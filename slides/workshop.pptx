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47.xml" ContentType="application/vnd.openxmlformats-officedocument.presentationml.slide+xml"/>
  <Override PartName="/ppt/slides/slide48.xml" ContentType="application/vnd.openxmlformats-officedocument.presentationml.slide+xml"/>
</Types>
</file>

<file path=_rels/.rels><?xml version="1.0" encoding="UTF-8"?>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301" r:id="rId9"/>
    <p:sldId id="263" r:id="rId10"/>
    <p:sldId id="302" r:id="rId53"/>
    <p:sldId id="303" r:id="rId54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296" r:id="rId43"/>
    <p:sldId id="297" r:id="rId44"/>
    <p:sldId id="298" r:id="rId45"/>
    <p:sldId id="299" r:id="rId46"/>
    <p:sldId id="300" r:id="rId4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213" d="100"/>
          <a:sy n="213" d="100"/>
        </p:scale>
        <p:origin x="300" y="1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3" Type="http://schemas.openxmlformats.org/officeDocument/2006/relationships/slide" Target="slides/slide47.xml"/><Relationship Id="rId54" Type="http://schemas.openxmlformats.org/officeDocument/2006/relationships/slide" Target="slides/slide48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025539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?>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?>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?>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?>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?>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?>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?>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?>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?>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?>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?>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?>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?>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?>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?>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?>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?>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2.xml.rels><?xml version="1.0" encoding="UTF-8"?>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3.xml.rels><?xml version="1.0" encoding="UTF-8"?>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4.xml.rels><?xml version="1.0" encoding="UTF-8"?>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5.xml.rels><?xml version="1.0" encoding="UTF-8"?>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5012057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?>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?>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?>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?>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?>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?>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1.xml.rels><?xml version="1.0" encoding="UTF-8"?>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agentic-loop.png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?>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?>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?>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8.xml.rels><?xml version="1.0" encoding="UTF-8"?>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9.xml.rels><?xml version="1.0" encoding="UTF-8"?>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0.xml.rels><?xml version="1.0" encoding="UTF-8"?>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1.xml.rels><?xml version="1.0" encoding="UTF-8"?>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2.xml.rels><?xml version="1.0" encoding="UTF-8"?>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3.xml.rels><?xml version="1.0" encoding="UTF-8"?>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4.xml.rels><?xml version="1.0" encoding="UTF-8"?>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5.xml.rels><?xml version="1.0" encoding="UTF-8"?>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6.xml.rels><?xml version="1.0" encoding="UTF-8"?>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7.xml.rels><?xml version="1.0" encoding="UTF-8"?>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8.xml.rels><?xml version="1.0" encoding="UTF-8"?>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9.xml.rels><?xml version="1.0" encoding="UTF-8"?>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30.xml.rels><?xml version="1.0" encoding="UTF-8"?>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1.xml.rels><?xml version="1.0" encoding="UTF-8"?>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2.xml.rels><?xml version="1.0" encoding="UTF-8"?>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3.xml.rels><?xml version="1.0" encoding="UTF-8"?>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4.xml.rels><?xml version="1.0" encoding="UTF-8"?>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5.xml.rels><?xml version="1.0" encoding="UTF-8"?>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6.xml.rels><?xml version="1.0" encoding="UTF-8"?>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7.xml.rels><?xml version="1.0" encoding="UTF-8"?>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8.xml.rels><?xml version="1.0" encoding="UTF-8"?>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9.xml.rels><?xml version="1.0" encoding="UTF-8"?>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40.xml.rels><?xml version="1.0" encoding="UTF-8"?>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1.xml.rels><?xml version="1.0" encoding="UTF-8"?>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2.xml.rels><?xml version="1.0" encoding="UTF-8"?>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3.xml.rels><?xml version="1.0" encoding="UTF-8"?>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4.xml.rels><?xml version="1.0" encoding="UTF-8"?>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5.xml.rels><?xml version="1.0" encoding="UTF-8"?>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6.xml.rels><?xml version="1.0" encoding="UTF-8"?>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1D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5200" b="1" kern="0" spc="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CLAUDE CODE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731520" y="192024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Dive Workshop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31520" y="2743200"/>
            <a:ext cx="1828800" cy="36576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6" name="Text 4"/>
          <p:cNvSpPr/>
          <p:nvPr/>
        </p:nvSpPr>
        <p:spPr>
          <a:xfrm>
            <a:off x="731520" y="30175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Reply  |  Internal Training  |  2026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731520" y="486918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Zero to Production — The Complete Workshop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51D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About This Workshop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280160"/>
            <a:ext cx="7680960" cy="65836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4" name="Shape 2"/>
          <p:cNvSpPr/>
          <p:nvPr/>
        </p:nvSpPr>
        <p:spPr>
          <a:xfrm>
            <a:off x="731520" y="1280160"/>
            <a:ext cx="54864" cy="658368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1005840" y="1280160"/>
            <a:ext cx="1828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743200" y="1280160"/>
            <a:ext cx="5486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09:30 – 16:30 (~6 hours incl. breaks)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31520" y="2103120"/>
            <a:ext cx="7680960" cy="65836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8" name="Shape 6"/>
          <p:cNvSpPr/>
          <p:nvPr/>
        </p:nvSpPr>
        <p:spPr>
          <a:xfrm>
            <a:off x="731520" y="2103120"/>
            <a:ext cx="54864" cy="658368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9" name="Text 7"/>
          <p:cNvSpPr/>
          <p:nvPr/>
        </p:nvSpPr>
        <p:spPr>
          <a:xfrm>
            <a:off x="1005840" y="2103120"/>
            <a:ext cx="1828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743200" y="2103120"/>
            <a:ext cx="5486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Guided presentation + hands-on exercises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31520" y="2926080"/>
            <a:ext cx="7680960" cy="65836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2" name="Shape 10"/>
          <p:cNvSpPr/>
          <p:nvPr/>
        </p:nvSpPr>
        <p:spPr>
          <a:xfrm>
            <a:off x="731520" y="2926080"/>
            <a:ext cx="54864" cy="658368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3" name="Text 11"/>
          <p:cNvSpPr/>
          <p:nvPr/>
        </p:nvSpPr>
        <p:spPr>
          <a:xfrm>
            <a:off x="1005840" y="2926080"/>
            <a:ext cx="1828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743200" y="2926080"/>
            <a:ext cx="5486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Developers &amp; Solution Architects at Reply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31520" y="3749040"/>
            <a:ext cx="7680960" cy="65836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6" name="Shape 14"/>
          <p:cNvSpPr/>
          <p:nvPr/>
        </p:nvSpPr>
        <p:spPr>
          <a:xfrm>
            <a:off x="731520" y="3749040"/>
            <a:ext cx="54864" cy="658368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7" name="Text 15"/>
          <p:cNvSpPr/>
          <p:nvPr/>
        </p:nvSpPr>
        <p:spPr>
          <a:xfrm>
            <a:off x="1005840" y="3749040"/>
            <a:ext cx="1828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743200" y="3749040"/>
            <a:ext cx="5486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Comprehensive overview of the entire Claude Code ecosystem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51D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Agenda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7680960" cy="74980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4" name="Shape 2"/>
          <p:cNvSpPr/>
          <p:nvPr/>
        </p:nvSpPr>
        <p:spPr>
          <a:xfrm>
            <a:off x="731520" y="1188720"/>
            <a:ext cx="54864" cy="749808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1005840" y="1188720"/>
            <a:ext cx="1828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09:30 – 11:00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926080" y="1261872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1: Getting Started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2926080" y="1572768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Ecosystem · Setup · First Session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31520" y="2103120"/>
            <a:ext cx="7680960" cy="74980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9" name="Shape 7"/>
          <p:cNvSpPr/>
          <p:nvPr/>
        </p:nvSpPr>
        <p:spPr>
          <a:xfrm>
            <a:off x="731520" y="2103120"/>
            <a:ext cx="54864" cy="749808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0" name="Text 8"/>
          <p:cNvSpPr/>
          <p:nvPr/>
        </p:nvSpPr>
        <p:spPr>
          <a:xfrm>
            <a:off x="1005840" y="2103120"/>
            <a:ext cx="1828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11:15 – 12:30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926080" y="2176272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2: Making Claude Yours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926080" y="2487168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CLAUDE.md · Skills · Subagents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31520" y="3017520"/>
            <a:ext cx="7680960" cy="74980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4" name="Shape 12"/>
          <p:cNvSpPr/>
          <p:nvPr/>
        </p:nvSpPr>
        <p:spPr>
          <a:xfrm>
            <a:off x="731520" y="3017520"/>
            <a:ext cx="54864" cy="749808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5" name="Text 13"/>
          <p:cNvSpPr/>
          <p:nvPr/>
        </p:nvSpPr>
        <p:spPr>
          <a:xfrm>
            <a:off x="1005840" y="3017520"/>
            <a:ext cx="1828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13:30 – 15:00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926080" y="3090672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3: Integration &amp; Automation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926080" y="3401568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· Hooks · CLI &amp; Headless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31520" y="3931920"/>
            <a:ext cx="7680960" cy="74980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9" name="Shape 17"/>
          <p:cNvSpPr/>
          <p:nvPr/>
        </p:nvSpPr>
        <p:spPr>
          <a:xfrm>
            <a:off x="731520" y="3931920"/>
            <a:ext cx="54864" cy="749808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20" name="Text 18"/>
          <p:cNvSpPr/>
          <p:nvPr/>
        </p:nvSpPr>
        <p:spPr>
          <a:xfrm>
            <a:off x="1005840" y="3931920"/>
            <a:ext cx="1828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15:15 – 16:30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2926080" y="4005072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4: The Big Picture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2926080" y="4315968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Plugins · Remote · Best Practices · Capstone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31520" y="466344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Includes coffee breaks (11:00, 15:00) and lunch (12:30–13:30)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51D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731520" y="12801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kern="0" spc="6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82880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Getting Started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31520" y="26517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zero to first productive session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3291840"/>
            <a:ext cx="1828800" cy="36576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7" name="Text 5"/>
          <p:cNvSpPr/>
          <p:nvPr/>
        </p:nvSpPr>
        <p:spPr>
          <a:xfrm>
            <a:off x="731520" y="356616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 Ecosystem (20 min)  ·  M2 Setup (15 min)  ·  M3 Interactive Session (20 min)  ·  M4 Session Extended (15 min)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9" name="Text 7"/>
          <p:cNvSpPr/>
          <p:nvPr/>
        </p:nvSpPr>
        <p:spPr>
          <a:xfrm>
            <a:off x="731520" y="486918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09:30 – 11:00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640080" cy="411480"/>
          </a:xfrm>
          <a:prstGeom prst="rect">
            <a:avLst/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554480" y="32004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51D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Claude Ecosystem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is more than Code — understanding the full product landscape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457200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371600"/>
            <a:ext cx="1828800" cy="2560320"/>
          </a:xfrm>
          <a:prstGeom prst="rect">
            <a:avLst/>
          </a:prstGeom>
          <a:solidFill>
            <a:srgbClr val="EFF6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7" name="Text 5"/>
          <p:cNvSpPr/>
          <p:nvPr/>
        </p:nvSpPr>
        <p:spPr>
          <a:xfrm>
            <a:off x="868680" y="15087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Web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68680" y="1920240"/>
            <a:ext cx="914400" cy="2286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9" name="Text 7"/>
          <p:cNvSpPr/>
          <p:nvPr/>
        </p:nvSpPr>
        <p:spPr>
          <a:xfrm>
            <a:off x="868680" y="2057400"/>
            <a:ext cx="1554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· Projects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Artifacts · Memory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Research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Instructions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743200" y="1371600"/>
            <a:ext cx="1828800" cy="2560320"/>
          </a:xfrm>
          <a:prstGeom prst="rect">
            <a:avLst/>
          </a:prstGeom>
          <a:solidFill>
            <a:srgbClr val="F5F3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1" name="Text 9"/>
          <p:cNvSpPr/>
          <p:nvPr/>
        </p:nvSpPr>
        <p:spPr>
          <a:xfrm>
            <a:off x="2880360" y="15087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Apps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880360" y="1920240"/>
            <a:ext cx="914400" cy="2286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3" name="Text 11"/>
          <p:cNvSpPr/>
          <p:nvPr/>
        </p:nvSpPr>
        <p:spPr>
          <a:xfrm>
            <a:off x="2880360" y="2057400"/>
            <a:ext cx="1554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Desktop (macOS/Win)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(iOS/Android)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Chrome Extension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Cowork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754880" y="1371600"/>
            <a:ext cx="1828800" cy="2560320"/>
          </a:xfrm>
          <a:prstGeom prst="rect">
            <a:avLst/>
          </a:prstGeom>
          <a:solidFill>
            <a:srgbClr val="ECFDF5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5" name="Text 13"/>
          <p:cNvSpPr/>
          <p:nvPr/>
        </p:nvSpPr>
        <p:spPr>
          <a:xfrm>
            <a:off x="4892040" y="15087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892040" y="1920240"/>
            <a:ext cx="914400" cy="2286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7" name="Text 15"/>
          <p:cNvSpPr/>
          <p:nvPr/>
        </p:nvSpPr>
        <p:spPr>
          <a:xfrm>
            <a:off x="4892040" y="2057400"/>
            <a:ext cx="1554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 CLI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 · Desktop · Web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Desktop · Web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Pipelines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766560" y="1371600"/>
            <a:ext cx="1828800" cy="2560320"/>
          </a:xfrm>
          <a:prstGeom prst="rect">
            <a:avLst/>
          </a:prstGeom>
          <a:solidFill>
            <a:srgbClr val="FFFBEB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9" name="Text 17"/>
          <p:cNvSpPr/>
          <p:nvPr/>
        </p:nvSpPr>
        <p:spPr>
          <a:xfrm>
            <a:off x="6903720" y="15087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API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903720" y="1920240"/>
            <a:ext cx="914400" cy="2286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21" name="Text 19"/>
          <p:cNvSpPr/>
          <p:nvPr/>
        </p:nvSpPr>
        <p:spPr>
          <a:xfrm>
            <a:off x="6903720" y="2057400"/>
            <a:ext cx="1554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Messages API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Opus · Sonnet · Haiku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Use · Vision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SDK</a:t>
            </a:r>
            <a:endParaRPr lang="en-US" sz="1100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57438F37-3416-4F19-CC53-24953E33B4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934" y="0"/>
            <a:ext cx="9084132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640080" cy="411480"/>
          </a:xfrm>
          <a:prstGeom prst="rect">
            <a:avLst/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554480" y="32004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51D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Claude Code vs. Claude Web</a:t>
            </a:r>
            <a:endParaRPr lang="en-US" sz="2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005840"/>
          <a:ext cx="7680960" cy="138684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Aspect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Web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Code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Context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Uploaded files, conversation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Entire codebase, terminal, git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Chat, generate artifacts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Read/write/edit files, shell, git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Browser-based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Terminal, IDE, CI/CD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Autonomy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Responds to prompts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Plans + executes multi-step tasks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Extensibility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MCP, hooks, skills, subagents, plugins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31520" y="384048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Capabilities: Built-in Tools · CLAUDE.md · Skills · Subagents · MCP · Hooks · Plugins · Headless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640080" cy="411480"/>
          </a:xfrm>
          <a:prstGeom prst="rect">
            <a:avLst/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554480" y="32004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51D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When to Use What · Subscription Tiers</a:t>
            </a:r>
            <a:endParaRPr lang="en-US" sz="2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914400"/>
          <a:ext cx="3657600" cy="169164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Tool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Quick question, research, writing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Claude.ai (Web/Mobile)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Write, debug, or refactor code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Code (Terminal/IDE)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Automate code review in CI/CD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Code (Headless)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 a custom AI-powered tool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API + Agent SDK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Automate browser tasks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in Chrome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914400"/>
          <a:ext cx="3657600" cy="161544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$20/mo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 5x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$100/mo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 20x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$200/mo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 Prem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$125/seat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731520" y="420624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requires Pro, Max, Team Premium, Enterprise — or an API key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17220" y="377190"/>
            <a:ext cx="445770" cy="274320"/>
          </a:xfrm>
          <a:prstGeom prst="roundRect">
            <a:avLst/>
          </a:prstGeom>
          <a:solidFill>
            <a:srgbClr val="2D5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400" b="1">
                <a:solidFill>
                  <a:srgbClr val="FFFFFF"/>
                </a:solidFill>
                <a:latin typeface="Segoe UI"/>
              </a:defRPr>
            </a:pPr>
            <a:r>
              <a:rPr sz="1050"/>
              <a:t>M1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65860" y="308611"/>
            <a:ext cx="685800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 i="0">
                <a:solidFill>
                  <a:srgbClr val="1A2332"/>
                </a:solidFill>
                <a:latin typeface="Segoe UI"/>
              </a:defRPr>
            </a:pPr>
            <a:r>
              <a:rPr sz="2700"/>
              <a:t>Advanced Model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7220" y="822961"/>
            <a:ext cx="6858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1">
                <a:solidFill>
                  <a:srgbClr val="6B7B8E"/>
                </a:solidFill>
                <a:latin typeface="Segoe UI"/>
              </a:defRPr>
            </a:pPr>
            <a:r>
              <a:rPr sz="1200"/>
              <a:t>Beyond basic chat — powerful API capabilities for developers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" y="1268730"/>
            <a:ext cx="2503170" cy="1577340"/>
          </a:xfrm>
          <a:prstGeom prst="round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6" name="TextBox 5"/>
          <p:cNvSpPr txBox="1"/>
          <p:nvPr/>
        </p:nvSpPr>
        <p:spPr>
          <a:xfrm>
            <a:off x="822960" y="1440180"/>
            <a:ext cx="209169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1A2332"/>
                </a:solidFill>
                <a:latin typeface="Segoe UI"/>
              </a:defRPr>
            </a:pPr>
            <a:r>
              <a:rPr sz="1500"/>
              <a:t>Extended Thinking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748790"/>
            <a:ext cx="822960" cy="27432"/>
          </a:xfrm>
          <a:prstGeom prst="rect">
            <a:avLst/>
          </a:prstGeom>
          <a:solidFill>
            <a:srgbClr val="E8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8" name="TextBox 7"/>
          <p:cNvSpPr txBox="1"/>
          <p:nvPr/>
        </p:nvSpPr>
        <p:spPr>
          <a:xfrm>
            <a:off x="822960" y="1920240"/>
            <a:ext cx="2091690" cy="6796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20"/>
              </a:spcAft>
              <a:defRPr sz="1400">
                <a:solidFill>
                  <a:srgbClr val="6B7B8E"/>
                </a:solidFill>
                <a:latin typeface="Segoe UI"/>
              </a:defRPr>
            </a:pPr>
            <a:r>
              <a:rPr sz="1050"/>
              <a:t>Chain-of-thought reasoning</a:t>
            </a:r>
          </a:p>
          <a:p>
            <a:pPr>
              <a:spcAft>
                <a:spcPts val="420"/>
              </a:spcAft>
              <a:defRPr sz="1400">
                <a:solidFill>
                  <a:srgbClr val="6B7B8E"/>
                </a:solidFill>
                <a:latin typeface="Segoe UI"/>
              </a:defRPr>
            </a:pPr>
            <a:r>
              <a:rPr sz="1050"/>
              <a:t>visible to developers</a:t>
            </a:r>
          </a:p>
          <a:p>
            <a:pPr>
              <a:spcAft>
                <a:spcPts val="420"/>
              </a:spcAft>
              <a:defRPr sz="1400">
                <a:solidFill>
                  <a:srgbClr val="6B7B8E"/>
                </a:solidFill>
                <a:latin typeface="Segoe UI"/>
              </a:defRPr>
            </a:pPr>
            <a:r>
              <a:rPr sz="1050"/>
              <a:t>Controllable token budget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26130" y="1268730"/>
            <a:ext cx="2503170" cy="1577340"/>
          </a:xfrm>
          <a:prstGeom prst="roundRect">
            <a:avLst/>
          </a:prstGeom>
          <a:solidFill>
            <a:srgbClr val="E4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10" name="TextBox 9"/>
          <p:cNvSpPr txBox="1"/>
          <p:nvPr/>
        </p:nvSpPr>
        <p:spPr>
          <a:xfrm>
            <a:off x="3531870" y="1440180"/>
            <a:ext cx="209169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1A2332"/>
                </a:solidFill>
                <a:latin typeface="Segoe UI"/>
              </a:defRPr>
            </a:pPr>
            <a:r>
              <a:rPr sz="1500"/>
              <a:t>Multimodal (Vision)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31870" y="1748790"/>
            <a:ext cx="822960" cy="27432"/>
          </a:xfrm>
          <a:prstGeom prst="rect">
            <a:avLst/>
          </a:prstGeom>
          <a:solidFill>
            <a:srgbClr val="E8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12" name="TextBox 11"/>
          <p:cNvSpPr txBox="1"/>
          <p:nvPr/>
        </p:nvSpPr>
        <p:spPr>
          <a:xfrm>
            <a:off x="3531870" y="1920240"/>
            <a:ext cx="2091690" cy="6796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20"/>
              </a:spcAft>
              <a:defRPr sz="1400">
                <a:solidFill>
                  <a:srgbClr val="6B7B8E"/>
                </a:solidFill>
                <a:latin typeface="Segoe UI"/>
              </a:defRPr>
            </a:pPr>
            <a:r>
              <a:rPr sz="1050"/>
              <a:t>Images, screenshots, diagrams</a:t>
            </a:r>
          </a:p>
          <a:p>
            <a:pPr>
              <a:spcAft>
                <a:spcPts val="420"/>
              </a:spcAft>
              <a:defRPr sz="1400">
                <a:solidFill>
                  <a:srgbClr val="6B7B8E"/>
                </a:solidFill>
                <a:latin typeface="Segoe UI"/>
              </a:defRPr>
            </a:pPr>
            <a:r>
              <a:rPr sz="1050"/>
              <a:t>as input alongside text</a:t>
            </a:r>
          </a:p>
          <a:p>
            <a:pPr>
              <a:spcAft>
                <a:spcPts val="420"/>
              </a:spcAft>
              <a:defRPr sz="1400">
                <a:solidFill>
                  <a:srgbClr val="6B7B8E"/>
                </a:solidFill>
                <a:latin typeface="Segoe UI"/>
              </a:defRPr>
            </a:pPr>
            <a:r>
              <a:rPr sz="1050"/>
              <a:t>PNG, JPEG, GIF, WebP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0" y="1268730"/>
            <a:ext cx="2503170" cy="1577340"/>
          </a:xfrm>
          <a:prstGeom prst="roundRect">
            <a:avLst/>
          </a:prstGeom>
          <a:solidFill>
            <a:srgbClr val="E4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14" name="TextBox 13"/>
          <p:cNvSpPr txBox="1"/>
          <p:nvPr/>
        </p:nvSpPr>
        <p:spPr>
          <a:xfrm>
            <a:off x="6240780" y="1440180"/>
            <a:ext cx="209169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1A2332"/>
                </a:solidFill>
                <a:latin typeface="Segoe UI"/>
              </a:defRPr>
            </a:pPr>
            <a:r>
              <a:rPr sz="1500"/>
              <a:t>PDF Support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40780" y="1748790"/>
            <a:ext cx="822960" cy="27432"/>
          </a:xfrm>
          <a:prstGeom prst="rect">
            <a:avLst/>
          </a:prstGeom>
          <a:solidFill>
            <a:srgbClr val="E8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16" name="TextBox 15"/>
          <p:cNvSpPr txBox="1"/>
          <p:nvPr/>
        </p:nvSpPr>
        <p:spPr>
          <a:xfrm>
            <a:off x="6240780" y="1920240"/>
            <a:ext cx="2091690" cy="6796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20"/>
              </a:spcAft>
              <a:defRPr sz="1400">
                <a:solidFill>
                  <a:srgbClr val="6B7B8E"/>
                </a:solidFill>
                <a:latin typeface="Segoe UI"/>
              </a:defRPr>
            </a:pPr>
            <a:r>
              <a:rPr sz="1050"/>
              <a:t>Native PDF processing</a:t>
            </a:r>
          </a:p>
          <a:p>
            <a:pPr>
              <a:spcAft>
                <a:spcPts val="420"/>
              </a:spcAft>
              <a:defRPr sz="1400">
                <a:solidFill>
                  <a:srgbClr val="6B7B8E"/>
                </a:solidFill>
                <a:latin typeface="Segoe UI"/>
              </a:defRPr>
            </a:pPr>
            <a:r>
              <a:rPr sz="1050"/>
              <a:t>Extracts text, tables, images</a:t>
            </a:r>
          </a:p>
          <a:p>
            <a:pPr>
              <a:spcAft>
                <a:spcPts val="420"/>
              </a:spcAft>
              <a:defRPr sz="1400">
                <a:solidFill>
                  <a:srgbClr val="6B7B8E"/>
                </a:solidFill>
                <a:latin typeface="Segoe UI"/>
              </a:defRPr>
            </a:pPr>
            <a:r>
              <a:rPr sz="1050"/>
              <a:t>Specs &amp; documentation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" y="3051810"/>
            <a:ext cx="2503170" cy="1577340"/>
          </a:xfrm>
          <a:prstGeom prst="roundRect">
            <a:avLst/>
          </a:prstGeom>
          <a:solidFill>
            <a:srgbClr val="FAE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18" name="TextBox 17"/>
          <p:cNvSpPr txBox="1"/>
          <p:nvPr/>
        </p:nvSpPr>
        <p:spPr>
          <a:xfrm>
            <a:off x="822960" y="3223260"/>
            <a:ext cx="209169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1A2332"/>
                </a:solidFill>
                <a:latin typeface="Segoe UI"/>
              </a:defRPr>
            </a:pPr>
            <a:r>
              <a:rPr sz="1500"/>
              <a:t>Computer Use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3531870"/>
            <a:ext cx="822960" cy="27432"/>
          </a:xfrm>
          <a:prstGeom prst="rect">
            <a:avLst/>
          </a:prstGeom>
          <a:solidFill>
            <a:srgbClr val="E8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20" name="TextBox 19"/>
          <p:cNvSpPr txBox="1"/>
          <p:nvPr/>
        </p:nvSpPr>
        <p:spPr>
          <a:xfrm>
            <a:off x="822960" y="3703320"/>
            <a:ext cx="2091690" cy="6796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20"/>
              </a:spcAft>
              <a:defRPr sz="1400">
                <a:solidFill>
                  <a:srgbClr val="6B7B8E"/>
                </a:solidFill>
                <a:latin typeface="Segoe UI"/>
              </a:defRPr>
            </a:pPr>
            <a:r>
              <a:rPr sz="1050"/>
              <a:t>Controls mouse, keyboard,</a:t>
            </a:r>
          </a:p>
          <a:p>
            <a:pPr>
              <a:spcAft>
                <a:spcPts val="420"/>
              </a:spcAft>
              <a:defRPr sz="1400">
                <a:solidFill>
                  <a:srgbClr val="6B7B8E"/>
                </a:solidFill>
                <a:latin typeface="Segoe UI"/>
              </a:defRPr>
            </a:pPr>
            <a:r>
              <a:rPr sz="1050"/>
              <a:t>screen — browser &amp; desktop</a:t>
            </a:r>
          </a:p>
          <a:p>
            <a:pPr>
              <a:spcAft>
                <a:spcPts val="420"/>
              </a:spcAft>
              <a:defRPr sz="1400">
                <a:solidFill>
                  <a:srgbClr val="6B7B8E"/>
                </a:solidFill>
                <a:latin typeface="Segoe UI"/>
              </a:defRPr>
            </a:pPr>
            <a:r>
              <a:rPr sz="1050"/>
              <a:t>UI workflow automation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326130" y="3051810"/>
            <a:ext cx="2503170" cy="1577340"/>
          </a:xfrm>
          <a:prstGeom prst="roundRect">
            <a:avLst/>
          </a:prstGeom>
          <a:solidFill>
            <a:srgbClr val="FAF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22" name="TextBox 21"/>
          <p:cNvSpPr txBox="1"/>
          <p:nvPr/>
        </p:nvSpPr>
        <p:spPr>
          <a:xfrm>
            <a:off x="3531870" y="3223260"/>
            <a:ext cx="209169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1A2332"/>
                </a:solidFill>
                <a:latin typeface="Segoe UI"/>
              </a:defRPr>
            </a:pPr>
            <a:r>
              <a:rPr sz="1500"/>
              <a:t>Prompt Caching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531870" y="3531870"/>
            <a:ext cx="822960" cy="27432"/>
          </a:xfrm>
          <a:prstGeom prst="rect">
            <a:avLst/>
          </a:prstGeom>
          <a:solidFill>
            <a:srgbClr val="E8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24" name="TextBox 23"/>
          <p:cNvSpPr txBox="1"/>
          <p:nvPr/>
        </p:nvSpPr>
        <p:spPr>
          <a:xfrm>
            <a:off x="3531870" y="3703320"/>
            <a:ext cx="2091690" cy="6796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20"/>
              </a:spcAft>
              <a:defRPr sz="1400">
                <a:solidFill>
                  <a:srgbClr val="6B7B8E"/>
                </a:solidFill>
                <a:latin typeface="Segoe UI"/>
              </a:defRPr>
            </a:pPr>
            <a:r>
              <a:rPr sz="1050"/>
              <a:t>Cache reusable context blocks</a:t>
            </a:r>
          </a:p>
          <a:p>
            <a:pPr>
              <a:spcAft>
                <a:spcPts val="420"/>
              </a:spcAft>
              <a:defRPr sz="1400">
                <a:solidFill>
                  <a:srgbClr val="6B7B8E"/>
                </a:solidFill>
                <a:latin typeface="Segoe UI"/>
              </a:defRPr>
            </a:pPr>
            <a:r>
              <a:rPr sz="1050"/>
              <a:t>Up to 90% cost reduction</a:t>
            </a:r>
          </a:p>
          <a:p>
            <a:pPr>
              <a:spcAft>
                <a:spcPts val="420"/>
              </a:spcAft>
              <a:defRPr sz="1400">
                <a:solidFill>
                  <a:srgbClr val="6B7B8E"/>
                </a:solidFill>
                <a:latin typeface="Segoe UI"/>
              </a:defRPr>
            </a:pPr>
            <a:r>
              <a:rPr sz="1050"/>
              <a:t>Repeated analysis pipelines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35040" y="3051810"/>
            <a:ext cx="2503170" cy="1577340"/>
          </a:xfrm>
          <a:prstGeom prst="roundRect">
            <a:avLst/>
          </a:prstGeom>
          <a:solidFill>
            <a:srgbClr val="E8EE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26" name="TextBox 25"/>
          <p:cNvSpPr txBox="1"/>
          <p:nvPr/>
        </p:nvSpPr>
        <p:spPr>
          <a:xfrm>
            <a:off x="6240780" y="3223260"/>
            <a:ext cx="209169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1A2332"/>
                </a:solidFill>
                <a:latin typeface="Segoe UI"/>
              </a:defRPr>
            </a:pPr>
            <a:r>
              <a:rPr sz="1500"/>
              <a:t>Batch API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40780" y="3531870"/>
            <a:ext cx="822960" cy="27432"/>
          </a:xfrm>
          <a:prstGeom prst="rect">
            <a:avLst/>
          </a:prstGeom>
          <a:solidFill>
            <a:srgbClr val="E8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28" name="TextBox 27"/>
          <p:cNvSpPr txBox="1"/>
          <p:nvPr/>
        </p:nvSpPr>
        <p:spPr>
          <a:xfrm>
            <a:off x="6240780" y="3703320"/>
            <a:ext cx="2091690" cy="6796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20"/>
              </a:spcAft>
              <a:defRPr sz="1400">
                <a:solidFill>
                  <a:srgbClr val="6B7B8E"/>
                </a:solidFill>
                <a:latin typeface="Segoe UI"/>
              </a:defRPr>
            </a:pPr>
            <a:r>
              <a:rPr sz="1050"/>
              <a:t>Async bulk processing</a:t>
            </a:r>
          </a:p>
          <a:p>
            <a:pPr>
              <a:spcAft>
                <a:spcPts val="420"/>
              </a:spcAft>
              <a:defRPr sz="1400">
                <a:solidFill>
                  <a:srgbClr val="6B7B8E"/>
                </a:solidFill>
                <a:latin typeface="Segoe UI"/>
              </a:defRPr>
            </a:pPr>
            <a:r>
              <a:rPr sz="1050"/>
              <a:t>50% cost reduction</a:t>
            </a:r>
          </a:p>
          <a:p>
            <a:pPr>
              <a:spcAft>
                <a:spcPts val="420"/>
              </a:spcAft>
              <a:defRPr sz="1400">
                <a:solidFill>
                  <a:srgbClr val="6B7B8E"/>
                </a:solidFill>
                <a:latin typeface="Segoe UI"/>
              </a:defRPr>
            </a:pPr>
            <a:r>
              <a:rPr sz="1050"/>
              <a:t>24h processing window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7220" y="4697730"/>
            <a:ext cx="411480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6B7B8E"/>
                </a:solidFill>
                <a:latin typeface="Segoe UI"/>
              </a:defRPr>
            </a:pPr>
            <a:r>
              <a:rPr sz="1050"/>
              <a:t>20 min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71900" y="4697730"/>
            <a:ext cx="48006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 i="1">
                <a:solidFill>
                  <a:srgbClr val="6B7B8E"/>
                </a:solidFill>
                <a:latin typeface="Segoe UI"/>
              </a:defRPr>
            </a:pPr>
            <a:r>
              <a:rPr sz="900"/>
              <a:t>Code examples in Module 9 — Messages API Essentials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51D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731520" y="3657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6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8229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Quick Tour of Claude.ai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6" name="Text 4"/>
          <p:cNvSpPr/>
          <p:nvPr/>
        </p:nvSpPr>
        <p:spPr>
          <a:xfrm>
            <a:off x="731520" y="16002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234440" y="155448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claude.ai and log in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31520" y="210312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9" name="Text 7"/>
          <p:cNvSpPr/>
          <p:nvPr/>
        </p:nvSpPr>
        <p:spPr>
          <a:xfrm>
            <a:off x="731520" y="21031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234440" y="205740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new Project — name it "Workshop Sandbox"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1520" y="260604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2" name="Text 10"/>
          <p:cNvSpPr/>
          <p:nvPr/>
        </p:nvSpPr>
        <p:spPr>
          <a:xfrm>
            <a:off x="731520" y="26060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34440" y="256032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Custom Instructions for .NET/AKS context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31520" y="310896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5" name="Text 13"/>
          <p:cNvSpPr/>
          <p:nvPr/>
        </p:nvSpPr>
        <p:spPr>
          <a:xfrm>
            <a:off x="731520" y="31089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234440" y="306324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"Key components for a .NET microservice on AKS?"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31520" y="361188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8" name="Text 16"/>
          <p:cNvSpPr/>
          <p:nvPr/>
        </p:nvSpPr>
        <p:spPr>
          <a:xfrm>
            <a:off x="731520" y="36118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234440" y="356616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 and edit the generated Artifact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31520" y="466344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Takeaway: Projects + Custom Instructions = same concept as CLAUDE.md in Claude Code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51D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731520" y="3657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6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8229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Install &amp; First Session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6" name="Text 4"/>
          <p:cNvSpPr/>
          <p:nvPr/>
        </p:nvSpPr>
        <p:spPr>
          <a:xfrm>
            <a:off x="731520" y="16002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234440" y="1554480"/>
            <a:ext cx="713232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Claude Code (native or npm)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31520" y="208788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9" name="Text 7"/>
          <p:cNvSpPr/>
          <p:nvPr/>
        </p:nvSpPr>
        <p:spPr>
          <a:xfrm>
            <a:off x="731520" y="20878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234440" y="2042160"/>
            <a:ext cx="713232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Run: claude doctor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1520" y="257556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2" name="Text 10"/>
          <p:cNvSpPr/>
          <p:nvPr/>
        </p:nvSpPr>
        <p:spPr>
          <a:xfrm>
            <a:off x="731520" y="25755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34440" y="2529840"/>
            <a:ext cx="713232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Authenticate (browser login or API key)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31520" y="306324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5" name="Text 13"/>
          <p:cNvSpPr/>
          <p:nvPr/>
        </p:nvSpPr>
        <p:spPr>
          <a:xfrm>
            <a:off x="731520" y="30632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234440" y="3017520"/>
            <a:ext cx="713232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first session: claude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31520" y="355092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8" name="Text 16"/>
          <p:cNvSpPr/>
          <p:nvPr/>
        </p:nvSpPr>
        <p:spPr>
          <a:xfrm>
            <a:off x="731520" y="35509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234440" y="3505200"/>
            <a:ext cx="713232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Explore: /help, /model, /cost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31520" y="403860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21" name="Text 19"/>
          <p:cNvSpPr/>
          <p:nvPr/>
        </p:nvSpPr>
        <p:spPr>
          <a:xfrm>
            <a:off x="731520" y="40386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234440" y="3992880"/>
            <a:ext cx="713232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VS Code Extension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31520" y="466344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Tip: If behind a corporate proxy, set HTTP_PROXY before running claude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51D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M3 — The Interactive Session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8046720" y="274320"/>
            <a:ext cx="914400" cy="54864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046720" y="27432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20 min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</a:rPr>
              <a:t>Working with AI as your coding partner</a:t>
            </a:r>
            <a:endParaRPr lang="en-US" sz="1400" dirty="0"/>
          </a:p>
        </p:txBody>
      </p:sp>
      <p:pic>
        <p:nvPicPr>
          <p:cNvPr id="6" name="Image 0" descr="/sessions/lucid-gallant-euler/agentic-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05840"/>
            <a:ext cx="6400800" cy="18288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57200" y="2926080"/>
            <a:ext cx="1828800" cy="164592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2563E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94360" y="306324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Loop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" y="3429000"/>
            <a:ext cx="155448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Gather Context → Plan → Take Action → Verify → Iterate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Continuous cycle, Claude handles all steps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guide, Claude executes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2560320" y="2926080"/>
            <a:ext cx="1828800" cy="164592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A3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697480" y="306324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Built-in Tools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2697480" y="3429000"/>
            <a:ext cx="155448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/ Edit / Write — files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Bash — shell commands &amp; tests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Grep / Glob — search &amp; find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WebFetch / WebSearch / Agent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663440" y="2926080"/>
            <a:ext cx="1828800" cy="164592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EA580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800600" y="306324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 &amp; Folder References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4800600" y="3429000"/>
            <a:ext cx="155448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@file — load single file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@folder — scan directory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 file | claude — pipe input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Images, PDFs, URLs supported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766560" y="2926080"/>
            <a:ext cx="1828800" cy="1645920"/>
          </a:xfrm>
          <a:prstGeom prst="roundRect">
            <a:avLst/>
          </a:prstGeom>
          <a:solidFill>
            <a:srgbClr val="FEFCE8"/>
          </a:solidFill>
          <a:ln w="25400">
            <a:solidFill>
              <a:srgbClr val="CA8A0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903720" y="306324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&amp; Models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6903720" y="3429000"/>
            <a:ext cx="155448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/context — inspect tokens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/compact — compress history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/model — switch (Opus/Sonnet/Haiku)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/cost — track API spending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457200" y="62179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94A3B8"/>
                </a:solidFill>
              </a:rPr>
              <a:t>Claude Code — M3 Module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51D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57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600" kern="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A N D S - O 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8229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Explore a Repo with Claude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731520" y="1645920"/>
            <a:ext cx="320040" cy="320040"/>
          </a:xfrm>
          <a:prstGeom prst="ellipse">
            <a:avLst/>
          </a:prstGeom>
          <a:solidFill>
            <a:srgbClr val="EA580C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6459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234440" y="164592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 project folder: claude @.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31520" y="2148840"/>
            <a:ext cx="320040" cy="320040"/>
          </a:xfrm>
          <a:prstGeom prst="ellipse">
            <a:avLst/>
          </a:prstGeom>
          <a:solidFill>
            <a:srgbClr val="EA580C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1488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234440" y="214884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 context: /context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31520" y="2651760"/>
            <a:ext cx="320040" cy="320040"/>
          </a:xfrm>
          <a:prstGeom prst="ellipse">
            <a:avLst/>
          </a:prstGeom>
          <a:solidFill>
            <a:srgbClr val="EA580C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26517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234440" y="265176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tools: ask Claude to find all TODO comments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31520" y="3154680"/>
            <a:ext cx="320040" cy="320040"/>
          </a:xfrm>
          <a:prstGeom prst="ellipse">
            <a:avLst/>
          </a:prstGeom>
          <a:solidFill>
            <a:srgbClr val="EA580C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31546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234440" y="315468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file references: @src/app.js "Explain this"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731520" y="3657600"/>
            <a:ext cx="320040" cy="320040"/>
          </a:xfrm>
          <a:prstGeom prst="ellipse">
            <a:avLst/>
          </a:prstGeom>
          <a:solidFill>
            <a:srgbClr val="EA580C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365760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234440" y="365760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Compact context: /compact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731520" y="4160520"/>
            <a:ext cx="320040" cy="320040"/>
          </a:xfrm>
          <a:prstGeom prst="ellipse">
            <a:avLst/>
          </a:prstGeom>
          <a:solidFill>
            <a:srgbClr val="EA580C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41605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234440" y="416052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models: /model → try Haiku for a quick question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31520" y="46634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/cost to check token usage after each step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51D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M4 — Interactive Session Extended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8046720" y="274320"/>
            <a:ext cx="914400" cy="54864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046720" y="27432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15 min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</a:rPr>
              <a:t>Master control, permissions, and workflows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371600" y="1371600"/>
            <a:ext cx="1828800" cy="210312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2563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08760" y="150876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Keyboard Shortcuts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508760" y="1874520"/>
            <a:ext cx="15544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 — stop mid-action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Esc×2 — rewind checkpoint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Shift+Tab — cycle permissions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Ctrl+B — background task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 prefix — direct bash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74720" y="1371600"/>
            <a:ext cx="1828800" cy="210312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A3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11880" y="150876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Permission Modes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611880" y="1874520"/>
            <a:ext cx="15544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default — ask for approval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acceptEdits — auto-approve edits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— review before acting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 — full autonomy (CI/CD)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577840" y="1371600"/>
            <a:ext cx="1828800" cy="210312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EA580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715000" y="150876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Checkpoints &amp; Git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715000" y="1874520"/>
            <a:ext cx="15544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Auto-snapshot before edits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Esc×2 to rewind anytime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commits &amp; creates PRs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git history awareness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680960" y="1371600"/>
            <a:ext cx="1828800" cy="2103120"/>
          </a:xfrm>
          <a:prstGeom prst="roundRect">
            <a:avLst/>
          </a:prstGeom>
          <a:solidFill>
            <a:srgbClr val="FEFCE8"/>
          </a:solidFill>
          <a:ln w="25400">
            <a:solidFill>
              <a:srgbClr val="CA8A0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818120" y="150876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818120" y="1874520"/>
            <a:ext cx="15544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--continue — resume last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--resume — pick session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--fork-session — branch work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/list-sessions — browse history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2179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94A3B8"/>
                </a:solidFill>
              </a:rPr>
              <a:t>Claude Code — M4 Module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51D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731520" y="3657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6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8229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Find a Bug, Fix &amp; Commit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6" name="Text 4"/>
          <p:cNvSpPr/>
          <p:nvPr/>
        </p:nvSpPr>
        <p:spPr>
          <a:xfrm>
            <a:off x="731520" y="16002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234440" y="1554480"/>
            <a:ext cx="713232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Clone a sample repository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31520" y="208788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9" name="Text 7"/>
          <p:cNvSpPr/>
          <p:nvPr/>
        </p:nvSpPr>
        <p:spPr>
          <a:xfrm>
            <a:off x="731520" y="20878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234440" y="2042160"/>
            <a:ext cx="713232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a Claude Code session in the repo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1520" y="257556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2" name="Text 10"/>
          <p:cNvSpPr/>
          <p:nvPr/>
        </p:nvSpPr>
        <p:spPr>
          <a:xfrm>
            <a:off x="731520" y="25755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34440" y="2529840"/>
            <a:ext cx="713232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Claude to find bugs or issues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31520" y="306324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5" name="Text 13"/>
          <p:cNvSpPr/>
          <p:nvPr/>
        </p:nvSpPr>
        <p:spPr>
          <a:xfrm>
            <a:off x="731520" y="30632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234440" y="3017520"/>
            <a:ext cx="713232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Claude fix the issue and run tests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31520" y="355092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8" name="Text 16"/>
          <p:cNvSpPr/>
          <p:nvPr/>
        </p:nvSpPr>
        <p:spPr>
          <a:xfrm>
            <a:off x="731520" y="35509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234440" y="3505200"/>
            <a:ext cx="713232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the diff and commit changes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31520" y="403860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21" name="Text 19"/>
          <p:cNvSpPr/>
          <p:nvPr/>
        </p:nvSpPr>
        <p:spPr>
          <a:xfrm>
            <a:off x="731520" y="40386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234440" y="3992880"/>
            <a:ext cx="713232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/rewind to undo and redo differently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31520" y="466344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on a .NET/C# project or Terraform module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51D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731520" y="12801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kern="0" spc="60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82880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Making Claude Yours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31520" y="26517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memory, workflows, delegation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3291840"/>
            <a:ext cx="1828800" cy="36576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7" name="Text 5"/>
          <p:cNvSpPr/>
          <p:nvPr/>
        </p:nvSpPr>
        <p:spPr>
          <a:xfrm>
            <a:off x="731520" y="356616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M5 CLAUDE.md &amp; Rules (20 min)  ·  M6 Skills &amp; Commands (30 min)  ·  M7 Subagents (25 min)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9" name="Text 7"/>
          <p:cNvSpPr/>
          <p:nvPr/>
        </p:nvSpPr>
        <p:spPr>
          <a:xfrm>
            <a:off x="731520" y="486918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11:15 – 12:30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640080" cy="411480"/>
          </a:xfrm>
          <a:prstGeom prst="rect">
            <a:avLst/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M5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554480" y="32004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51D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CLAUDE.md &amp; Rules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Claude how YOUR project works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457200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097280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54864" cy="77724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1005840" y="114300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CLAUDE.md?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05840" y="1389888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memory that persists across sessions. Markdown file with coding standards, architecture, build commands.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1947672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1" name="Shape 9"/>
          <p:cNvSpPr/>
          <p:nvPr/>
        </p:nvSpPr>
        <p:spPr>
          <a:xfrm>
            <a:off x="731520" y="1947672"/>
            <a:ext cx="54864" cy="77724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2" name="Text 10"/>
          <p:cNvSpPr/>
          <p:nvPr/>
        </p:nvSpPr>
        <p:spPr>
          <a:xfrm>
            <a:off x="1005840" y="1993392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Levels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05840" y="2240280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(~/.claude/CLAUDE.md) → Project (./CLAUDE.md) → Directory (./src/CLAUDE.md). All concatenated, more specific wins.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" y="2798064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5" name="Shape 13"/>
          <p:cNvSpPr/>
          <p:nvPr/>
        </p:nvSpPr>
        <p:spPr>
          <a:xfrm>
            <a:off x="731520" y="2798064"/>
            <a:ext cx="54864" cy="77724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6" name="Text 14"/>
          <p:cNvSpPr/>
          <p:nvPr/>
        </p:nvSpPr>
        <p:spPr>
          <a:xfrm>
            <a:off x="1005840" y="2843784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/init &amp; # Shortcut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05840" y="3090672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/init auto-generates from codebase. # shortcut adds conventions during work.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31520" y="3648456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9" name="Shape 17"/>
          <p:cNvSpPr/>
          <p:nvPr/>
        </p:nvSpPr>
        <p:spPr>
          <a:xfrm>
            <a:off x="731520" y="3648456"/>
            <a:ext cx="54864" cy="77724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20" name="Text 18"/>
          <p:cNvSpPr/>
          <p:nvPr/>
        </p:nvSpPr>
        <p:spPr>
          <a:xfrm>
            <a:off x="1005840" y="3694176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.claude/rules/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05840" y="3941064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Path-specific rules with YAML frontmatter. Rules only load when matching files are opened. Saves context.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640080" cy="411480"/>
          </a:xfrm>
          <a:prstGeom prst="rect">
            <a:avLst/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M5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554480" y="32004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51D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to Include vs. Exclude</a:t>
            </a:r>
            <a:endParaRPr lang="en-US" sz="24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914400"/>
          <a:ext cx="7680960" cy="914400"/>
        </p:xfrm>
        <a:graphic>
          <a:graphicData uri="http://schemas.openxmlformats.org/drawingml/2006/table">
            <a:tbl>
              <a:tblPr/>
              <a:tblGrid>
                <a:gridCol w="3840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Include 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Exclude ✗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Build/test commands Claude can't guess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Things Claude sees from code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 style rules differing from defaults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 language conventions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Repository etiquette (branch naming, PRs)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Detailed API documentation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Architecture decisions specific to project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explanations or tutorials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Developer environment quirks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Frequently changing information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31520" y="34747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Under ~200 lines per file  ·  Use @imports for external references  ·  Version-control as team asset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731520" y="393192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.claude/rules/ Example: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731520" y="4206240"/>
            <a:ext cx="7680960" cy="640080"/>
          </a:xfrm>
          <a:prstGeom prst="rect">
            <a:avLst/>
          </a:prstGeom>
          <a:solidFill>
            <a:srgbClr val="1E1E2E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8" name="Text 5"/>
          <p:cNvSpPr/>
          <p:nvPr/>
        </p:nvSpPr>
        <p:spPr>
          <a:xfrm>
            <a:off x="914400" y="42519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paths: ["src/api/**/*.ts"]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API endpoints must include input validation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51D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731520" y="3657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6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8229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Create a CLAUDE.md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6" name="Text 4"/>
          <p:cNvSpPr/>
          <p:nvPr/>
        </p:nvSpPr>
        <p:spPr>
          <a:xfrm>
            <a:off x="731520" y="16002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234440" y="155448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CLAUDE.md manually for a sample project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31520" y="210312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9" name="Text 7"/>
          <p:cNvSpPr/>
          <p:nvPr/>
        </p:nvSpPr>
        <p:spPr>
          <a:xfrm>
            <a:off x="731520" y="21031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234440" y="205740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Include: build commands, code style, architecture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1520" y="260604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2" name="Text 10"/>
          <p:cNvSpPr/>
          <p:nvPr/>
        </p:nvSpPr>
        <p:spPr>
          <a:xfrm>
            <a:off x="731520" y="26060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34440" y="256032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/init and compare auto-generated version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31520" y="310896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5" name="Text 13"/>
          <p:cNvSpPr/>
          <p:nvPr/>
        </p:nvSpPr>
        <p:spPr>
          <a:xfrm>
            <a:off x="731520" y="31089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234440" y="306324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.claude/rules/testing.md with path filter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31520" y="361188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8" name="Text 16"/>
          <p:cNvSpPr/>
          <p:nvPr/>
        </p:nvSpPr>
        <p:spPr>
          <a:xfrm>
            <a:off x="731520" y="36118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234440" y="356616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Test: Does Claude follow the rules?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31520" y="466344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CLAUDE.md for cloud-native + IaC conventions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640080" cy="411480"/>
          </a:xfrm>
          <a:prstGeom prst="rect">
            <a:avLst/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M6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554480" y="32004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51D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Skills &amp; Commands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workflows and knowledge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457200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097280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54864" cy="77724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1005840" y="114300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(Recommended)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05840" y="1389888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.claude/skills/&lt;name&gt;/SKILL.md with YAML frontmatter. Reference skills (auto-loaded knowledge) or Action skills (invocable /name)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1947672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1" name="Shape 9"/>
          <p:cNvSpPr/>
          <p:nvPr/>
        </p:nvSpPr>
        <p:spPr>
          <a:xfrm>
            <a:off x="731520" y="1947672"/>
            <a:ext cx="54864" cy="77724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2" name="Text 10"/>
          <p:cNvSpPr/>
          <p:nvPr/>
        </p:nvSpPr>
        <p:spPr>
          <a:xfrm>
            <a:off x="1005840" y="1993392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Frontmatter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05840" y="2240280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description, allowed-tools, context: fork, disable-model-invocation, paths, model, argument-hint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" y="2798064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5" name="Shape 13"/>
          <p:cNvSpPr/>
          <p:nvPr/>
        </p:nvSpPr>
        <p:spPr>
          <a:xfrm>
            <a:off x="731520" y="2798064"/>
            <a:ext cx="54864" cy="77724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6" name="Text 14"/>
          <p:cNvSpPr/>
          <p:nvPr/>
        </p:nvSpPr>
        <p:spPr>
          <a:xfrm>
            <a:off x="1005840" y="2843784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Commands (Simple)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05840" y="3090672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.claude/commands/&lt;name&gt;.md — Markdown with $ARGUMENTS. Quick alternative for simple prompts.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31520" y="3648456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9" name="Shape 17"/>
          <p:cNvSpPr/>
          <p:nvPr/>
        </p:nvSpPr>
        <p:spPr>
          <a:xfrm>
            <a:off x="731520" y="3648456"/>
            <a:ext cx="54864" cy="77724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20" name="Text 18"/>
          <p:cNvSpPr/>
          <p:nvPr/>
        </p:nvSpPr>
        <p:spPr>
          <a:xfrm>
            <a:off x="1005840" y="3694176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Bundled Skills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05840" y="3941064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/batch (parallel changes), /debug (troubleshoot), /simplify (code quality), /loop (repeat prompts)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640080" cy="411480"/>
          </a:xfrm>
          <a:prstGeom prst="rect">
            <a:avLst/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M6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554480" y="32004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51D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Skill Anatomy &amp; Dynamic Context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914400"/>
            <a:ext cx="3657600" cy="2560320"/>
          </a:xfrm>
          <a:prstGeom prst="rect">
            <a:avLst/>
          </a:prstGeom>
          <a:solidFill>
            <a:srgbClr val="1E1E2E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914400" y="1005840"/>
            <a:ext cx="329184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</a:t>
            </a:r>
            <a:endParaRPr lang="en-US" sz="1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name: review</a:t>
            </a:r>
            <a:endParaRPr lang="en-US" sz="1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description: Review code quality</a:t>
            </a:r>
            <a:endParaRPr lang="en-US" sz="1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allowed-tools: Read Grep Glob</a:t>
            </a:r>
            <a:endParaRPr lang="en-US" sz="1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context: fork</a:t>
            </a:r>
            <a:endParaRPr lang="en-US" sz="1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agent: Explore</a:t>
            </a:r>
            <a:endParaRPr lang="en-US" sz="1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</a:t>
            </a:r>
            <a:endParaRPr lang="en-US" sz="1000" dirty="0"/>
          </a:p>
          <a:p>
            <a:pPr marL="0" indent="0">
              <a:lnSpc>
                <a:spcPct val="120000"/>
              </a:lnSpc>
              <a:buNone/>
            </a:pPr>
            <a:endParaRPr lang="en-US" sz="1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Review $ARGUMENTS for:</a:t>
            </a:r>
            <a:endParaRPr lang="en-US" sz="1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Security issues</a:t>
            </a:r>
            <a:endParaRPr lang="en-US" sz="1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Performance problems</a:t>
            </a:r>
            <a:endParaRPr lang="en-US" sz="1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Best practice violations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754880" y="91440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$ARGUMENTS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754880" y="1170432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input passed to skill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754880" y="1426464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context: fork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754880" y="1682496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in isolated subagent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754880" y="1938528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allowed-tools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754880" y="21945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 available tools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754880" y="245059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!`command`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754880" y="2706624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context injection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754880" y="2962656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paths: ["*.ts"]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54880" y="3218688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Auto-load for matching files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384048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Priority: Enterprise &gt; Personal (~/.claude/skills/) &gt; Project (.claude/skills/) &gt; Plugin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51D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731520" y="3657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6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8229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Build a Skill &amp; Command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6" name="Text 4"/>
          <p:cNvSpPr/>
          <p:nvPr/>
        </p:nvSpPr>
        <p:spPr>
          <a:xfrm>
            <a:off x="731520" y="16002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234440" y="155448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.claude/commands/review.md with $ARGUMENTS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31520" y="210312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9" name="Text 7"/>
          <p:cNvSpPr/>
          <p:nvPr/>
        </p:nvSpPr>
        <p:spPr>
          <a:xfrm>
            <a:off x="731520" y="21031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234440" y="205740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it: /review src/main.ts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1520" y="260604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2" name="Text 10"/>
          <p:cNvSpPr/>
          <p:nvPr/>
        </p:nvSpPr>
        <p:spPr>
          <a:xfrm>
            <a:off x="731520" y="26060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34440" y="256032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.claude/skills/validate/SKILL.md with frontmatter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31520" y="310896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5" name="Text 13"/>
          <p:cNvSpPr/>
          <p:nvPr/>
        </p:nvSpPr>
        <p:spPr>
          <a:xfrm>
            <a:off x="731520" y="31089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234440" y="306324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context: fork and allowed-tools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31520" y="361188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8" name="Text 16"/>
          <p:cNvSpPr/>
          <p:nvPr/>
        </p:nvSpPr>
        <p:spPr>
          <a:xfrm>
            <a:off x="731520" y="36118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234440" y="356616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automatic invocation vs. manual /validate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31520" y="466344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= reusable workflows, Commands = simple prompts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640080" cy="411480"/>
          </a:xfrm>
          <a:prstGeom prst="rect">
            <a:avLst/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M7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554480" y="32004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51D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Subagents &amp; Agent Teams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Managing complexity through delegation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457200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min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097280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54864" cy="77724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1005840" y="114300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Subagents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05840" y="1389888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Isolated context, own tools, returns summary. .claude/agents/&lt;name&gt;.md with frontmatter.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1947672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1" name="Shape 9"/>
          <p:cNvSpPr/>
          <p:nvPr/>
        </p:nvSpPr>
        <p:spPr>
          <a:xfrm>
            <a:off x="731520" y="1947672"/>
            <a:ext cx="54864" cy="77724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2" name="Text 10"/>
          <p:cNvSpPr/>
          <p:nvPr/>
        </p:nvSpPr>
        <p:spPr>
          <a:xfrm>
            <a:off x="1005840" y="1993392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Agents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05840" y="2240280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(Haiku, read-only, fast) · Plan (read-only, strategy) · general-purpose (all tools)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" y="2798064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5" name="Shape 13"/>
          <p:cNvSpPr/>
          <p:nvPr/>
        </p:nvSpPr>
        <p:spPr>
          <a:xfrm>
            <a:off x="731520" y="2798064"/>
            <a:ext cx="54864" cy="77724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6" name="Text 14"/>
          <p:cNvSpPr/>
          <p:nvPr/>
        </p:nvSpPr>
        <p:spPr>
          <a:xfrm>
            <a:off x="1005840" y="2843784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Invocation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05840" y="3090672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language · @-mention (@"reviewer (agent)") · CLI (claude --agent name) · Task(...) dynamic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31520" y="3648456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9" name="Shape 17"/>
          <p:cNvSpPr/>
          <p:nvPr/>
        </p:nvSpPr>
        <p:spPr>
          <a:xfrm>
            <a:off x="731520" y="3648456"/>
            <a:ext cx="54864" cy="77724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20" name="Text 18"/>
          <p:cNvSpPr/>
          <p:nvPr/>
        </p:nvSpPr>
        <p:spPr>
          <a:xfrm>
            <a:off x="1005840" y="3694176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Teams (Experimental)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05840" y="3941064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independent sessions coordinating via shared task list + peer-to-peer messaging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640080" cy="411480"/>
          </a:xfrm>
          <a:prstGeom prst="rect">
            <a:avLst/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M7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554480" y="32004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51D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Subagent Definition &amp; Patterns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914400"/>
            <a:ext cx="3657600" cy="2011680"/>
          </a:xfrm>
          <a:prstGeom prst="rect">
            <a:avLst/>
          </a:prstGeom>
          <a:solidFill>
            <a:srgbClr val="1E1E2E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914400" y="1005840"/>
            <a:ext cx="32918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</a:t>
            </a:r>
            <a:endParaRPr lang="en-US" sz="1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name: code-reviewer</a:t>
            </a:r>
            <a:endParaRPr lang="en-US" sz="1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description: Reviews code quality</a:t>
            </a:r>
            <a:endParaRPr lang="en-US" sz="1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tools: Read, Grep, Glob</a:t>
            </a:r>
            <a:endParaRPr lang="en-US" sz="1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model: sonnet</a:t>
            </a:r>
            <a:endParaRPr lang="en-US" sz="1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maxTurns: 10</a:t>
            </a:r>
            <a:endParaRPr lang="en-US" sz="1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</a:t>
            </a:r>
            <a:endParaRPr lang="en-US" sz="1000" dirty="0"/>
          </a:p>
          <a:p>
            <a:pPr marL="0" indent="0">
              <a:lnSpc>
                <a:spcPct val="120000"/>
              </a:lnSpc>
              <a:buNone/>
            </a:pPr>
            <a:endParaRPr lang="en-US" sz="1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You are a senior code reviewer.</a:t>
            </a:r>
            <a:endParaRPr lang="en-US" sz="1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Focus on security, performance,</a:t>
            </a:r>
            <a:endParaRPr lang="en-US" sz="1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and best practices.</a:t>
            </a:r>
            <a:endParaRPr lang="en-US" sz="10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0" y="914400"/>
          <a:ext cx="3840480" cy="91440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Pattern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Token Cost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Master-Clone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Identical workers, same task on different areas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Lead-Specialist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Different roles (reviewer, tester, documenter)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Teams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Independent sessions, shared task list, messaging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31520" y="320040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fields: name, description, tools, model, maxTurns, skills, mcpServers, memory, isolation (worktree)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731520" y="356616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Teams: CLAUDE_CODE_EXPERIMENTAL_AGENT_TEAMS=1  ·  Shift+Down to cycle teammates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51D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731520" y="3657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6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8229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Define a Code Review Subagent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6" name="Text 4"/>
          <p:cNvSpPr/>
          <p:nvPr/>
        </p:nvSpPr>
        <p:spPr>
          <a:xfrm>
            <a:off x="731520" y="16002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234440" y="155448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.claude/agents/reviewer.md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31520" y="210312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9" name="Text 7"/>
          <p:cNvSpPr/>
          <p:nvPr/>
        </p:nvSpPr>
        <p:spPr>
          <a:xfrm>
            <a:off x="731520" y="21031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234440" y="205740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tools: Read, Grep, Glob (read-only)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1520" y="260604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2" name="Text 10"/>
          <p:cNvSpPr/>
          <p:nvPr/>
        </p:nvSpPr>
        <p:spPr>
          <a:xfrm>
            <a:off x="731520" y="26060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34440" y="256032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model: sonnet, maxTurns: 10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31520" y="310896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5" name="Text 13"/>
          <p:cNvSpPr/>
          <p:nvPr/>
        </p:nvSpPr>
        <p:spPr>
          <a:xfrm>
            <a:off x="731520" y="31089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234440" y="306324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review prompt in markdown body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31520" y="361188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8" name="Text 16"/>
          <p:cNvSpPr/>
          <p:nvPr/>
        </p:nvSpPr>
        <p:spPr>
          <a:xfrm>
            <a:off x="731520" y="36118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234440" y="356616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Test: @"reviewer (agent)" review the auth module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31520" y="466344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Terraform validation agent, Helm chart auditor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51D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731520" y="12801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kern="0" spc="6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82880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Integration &amp; Automation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31520" y="26517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tools, quality gates, pipelines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3291840"/>
            <a:ext cx="1828800" cy="36576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7" name="Text 5"/>
          <p:cNvSpPr/>
          <p:nvPr/>
        </p:nvSpPr>
        <p:spPr>
          <a:xfrm>
            <a:off x="731520" y="356616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M8 MCP (35 min)  ·  M9 Hooks (25 min)  ·  M10 CLI &amp; Headless (30 min)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9" name="Text 7"/>
          <p:cNvSpPr/>
          <p:nvPr/>
        </p:nvSpPr>
        <p:spPr>
          <a:xfrm>
            <a:off x="731520" y="486918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13:30 – 15:00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640080" cy="411480"/>
          </a:xfrm>
          <a:prstGeom prst="rect">
            <a:avLst/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M8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554480" y="32004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51D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MCP: External Connections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Claude to the outside world via Model Context Protocol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457200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min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097280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54864" cy="7772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1005840" y="114300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MCP?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05840" y="1389888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Context Protocol — open standard for connecting AI to external tools and data sources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1947672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1" name="Shape 9"/>
          <p:cNvSpPr/>
          <p:nvPr/>
        </p:nvSpPr>
        <p:spPr>
          <a:xfrm>
            <a:off x="731520" y="1947672"/>
            <a:ext cx="54864" cy="7772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2" name="Text 10"/>
          <p:cNvSpPr/>
          <p:nvPr/>
        </p:nvSpPr>
        <p:spPr>
          <a:xfrm>
            <a:off x="1005840" y="1993392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 Types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05840" y="2240280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(recommended for cloud) · stdio (local processes) · SSE (deprecated)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" y="2798064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5" name="Shape 13"/>
          <p:cNvSpPr/>
          <p:nvPr/>
        </p:nvSpPr>
        <p:spPr>
          <a:xfrm>
            <a:off x="731520" y="2798064"/>
            <a:ext cx="54864" cy="7772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6" name="Text 14"/>
          <p:cNvSpPr/>
          <p:nvPr/>
        </p:nvSpPr>
        <p:spPr>
          <a:xfrm>
            <a:off x="1005840" y="2843784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Scopes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05840" y="3090672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(~/.claude.json per project) &gt; Project (.mcp.json, committed) &gt; User (~/.claude.json global)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31520" y="3648456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9" name="Shape 17"/>
          <p:cNvSpPr/>
          <p:nvPr/>
        </p:nvSpPr>
        <p:spPr>
          <a:xfrm>
            <a:off x="731520" y="3648456"/>
            <a:ext cx="54864" cy="7772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20" name="Text 18"/>
          <p:cNvSpPr/>
          <p:nvPr/>
        </p:nvSpPr>
        <p:spPr>
          <a:xfrm>
            <a:off x="1005840" y="3694176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05840" y="3941064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GitHub, Jira, databases, Slack, Figma, monitoring (Sentry), filesystem — 100+ servers available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640080" cy="411480"/>
          </a:xfrm>
          <a:prstGeom prst="rect">
            <a:avLst/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M8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554480" y="32004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51D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MCP Installation &amp; Configuration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914400"/>
            <a:ext cx="7680960" cy="914400"/>
          </a:xfrm>
          <a:prstGeom prst="rect">
            <a:avLst/>
          </a:prstGeom>
          <a:solidFill>
            <a:srgbClr val="1E1E2E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914400" y="96012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HTTP (cloud services)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 mcp add --transport http notion https://mcp.notion.com/mcp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stdio (local processes)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 mcp add --transport stdio github -- npx -y @anthropic-ai/github-mcp</a:t>
            </a:r>
            <a:endParaRPr lang="en-US" sz="10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011680"/>
          <a:ext cx="7680960" cy="91440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37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Command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mcp add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Register a new MCP server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mcp list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 all configured servers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mcp get &lt;name&gt;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Show server details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mcp remove &lt;name&gt;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a server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/mcp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 status in session (health, token costs)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--scope project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Save to .mcp.json (team-shared, committed)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31520" y="420624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Important: All flags must come BEFORE server name. -- separates Claude flags from server command.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51D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731520" y="3657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6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8229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Set Up GitHub MCP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6" name="Text 4"/>
          <p:cNvSpPr/>
          <p:nvPr/>
        </p:nvSpPr>
        <p:spPr>
          <a:xfrm>
            <a:off x="731520" y="16002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234440" y="155448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GitHub MCP: claude mcp add github -- npx ...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31520" y="210312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9" name="Text 7"/>
          <p:cNvSpPr/>
          <p:nvPr/>
        </p:nvSpPr>
        <p:spPr>
          <a:xfrm>
            <a:off x="731520" y="21031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234440" y="205740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status: /mcp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1520" y="260604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2" name="Text 10"/>
          <p:cNvSpPr/>
          <p:nvPr/>
        </p:nvSpPr>
        <p:spPr>
          <a:xfrm>
            <a:off x="731520" y="26060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34440" y="256032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Claude to list open issues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31520" y="310896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5" name="Text 13"/>
          <p:cNvSpPr/>
          <p:nvPr/>
        </p:nvSpPr>
        <p:spPr>
          <a:xfrm>
            <a:off x="731520" y="31089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234440" y="306324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new issue from Claude Code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31520" y="361188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8" name="Text 16"/>
          <p:cNvSpPr/>
          <p:nvPr/>
        </p:nvSpPr>
        <p:spPr>
          <a:xfrm>
            <a:off x="731520" y="36118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234440" y="356616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Try: read a PR diff, comment on it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31520" y="466344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GitHub Enterprise MCP for internal repos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640080" cy="411480"/>
          </a:xfrm>
          <a:prstGeom prst="rect">
            <a:avLst/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M9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554480" y="32004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51D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Hooks: Guaranteeing Determinism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that ALWAYS runs — independent of the LLM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457200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min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097280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54864" cy="7772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1005840" y="114300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are Hooks?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05840" y="1389888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code at lifecycle points. NOT controlled by Claude — always runs, guaranteed.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1947672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1" name="Shape 9"/>
          <p:cNvSpPr/>
          <p:nvPr/>
        </p:nvSpPr>
        <p:spPr>
          <a:xfrm>
            <a:off x="731520" y="1947672"/>
            <a:ext cx="54864" cy="7772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2" name="Text 10"/>
          <p:cNvSpPr/>
          <p:nvPr/>
        </p:nvSpPr>
        <p:spPr>
          <a:xfrm>
            <a:off x="1005840" y="1993392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05840" y="2240280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hooks (shell scripts) · HTTP hooks (POST to URL) · Async hooks (fire-and-forget)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" y="2798064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5" name="Shape 13"/>
          <p:cNvSpPr/>
          <p:nvPr/>
        </p:nvSpPr>
        <p:spPr>
          <a:xfrm>
            <a:off x="731520" y="2798064"/>
            <a:ext cx="54864" cy="7772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6" name="Text 14"/>
          <p:cNvSpPr/>
          <p:nvPr/>
        </p:nvSpPr>
        <p:spPr>
          <a:xfrm>
            <a:off x="1005840" y="2843784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Control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05840" y="3090672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0 = continue · Exit 2 = block tool · JSON stdout: message, feedback, suppressOutput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31520" y="3648456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9" name="Shape 17"/>
          <p:cNvSpPr/>
          <p:nvPr/>
        </p:nvSpPr>
        <p:spPr>
          <a:xfrm>
            <a:off x="731520" y="3648456"/>
            <a:ext cx="54864" cy="7772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20" name="Text 18"/>
          <p:cNvSpPr/>
          <p:nvPr/>
        </p:nvSpPr>
        <p:spPr>
          <a:xfrm>
            <a:off x="1005840" y="3694176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 Skills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05840" y="3941064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Hooks = deterministic (always runs) · Skills = LLM-driven (Claude decides when to use)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640080" cy="411480"/>
          </a:xfrm>
          <a:prstGeom prst="rect">
            <a:avLst/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M9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554480" y="32004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51D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Lifecycle Events &amp; Use Cases</a:t>
            </a:r>
            <a:endParaRPr lang="en-US" sz="24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914400"/>
          <a:ext cx="4114800" cy="91440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 It Fires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PreToolUse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Before a tool executes (block or modify)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PostToolUse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After a tool executes (react to results)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SessionStart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 session begins (inject context)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UserPromptSubmit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 user sends a message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 Claude finishes (notify, log)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SubagentStop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 a subagent completes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PreCompact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Before context compaction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TaskCompleted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 a background task finishes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6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914400"/>
          <a:ext cx="3383280" cy="91440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 Case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Auto-format on edit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PostToolUse + Write → prettier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 rm -rf /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PreToolUse + Bash → exit 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Notify on complete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Stop → desktop notification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Auto-test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PostToolUse + Write(*.test.*) → jest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Inject date/info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SessionStart → stdout context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731520" y="411480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Configure: /hooks (interactive) or .claude/settings.json (manual)  ·  Matchers: tool name, file patterns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51D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731520" y="3657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6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8229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Build an Auto-Formatter Hook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6" name="Text 4"/>
          <p:cNvSpPr/>
          <p:nvPr/>
        </p:nvSpPr>
        <p:spPr>
          <a:xfrm>
            <a:off x="731520" y="16002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234440" y="155448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/hooks (interactive configuration)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31520" y="210312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9" name="Text 7"/>
          <p:cNvSpPr/>
          <p:nvPr/>
        </p:nvSpPr>
        <p:spPr>
          <a:xfrm>
            <a:off x="731520" y="21031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234440" y="205740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PostToolUse hook for Write/Edit tools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1520" y="260604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2" name="Text 10"/>
          <p:cNvSpPr/>
          <p:nvPr/>
        </p:nvSpPr>
        <p:spPr>
          <a:xfrm>
            <a:off x="731520" y="26060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34440" y="256032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Script: run prettier on the edited file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31520" y="310896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5" name="Text 13"/>
          <p:cNvSpPr/>
          <p:nvPr/>
        </p:nvSpPr>
        <p:spPr>
          <a:xfrm>
            <a:off x="731520" y="31089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234440" y="306324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Test: make Claude edit a JS file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31520" y="361188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8" name="Text 16"/>
          <p:cNvSpPr/>
          <p:nvPr/>
        </p:nvSpPr>
        <p:spPr>
          <a:xfrm>
            <a:off x="731520" y="36118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234440" y="3566160"/>
            <a:ext cx="7132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Verify: file is auto-formatted after edit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31520" y="466344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Terraform fmt, Helm lint as hooks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640080" cy="411480"/>
          </a:xfrm>
          <a:prstGeom prst="rect">
            <a:avLst/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M10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554480" y="32004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51D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CLI &amp; Headless Mode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in the pipeline — automation and CI/CD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457200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097280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54864" cy="7772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1005840" y="114300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One-Shot Mode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05840" y="1389888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-p "prompt" — non-interactive execution. --output-format json|stream-json for machine output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1947672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1" name="Shape 9"/>
          <p:cNvSpPr/>
          <p:nvPr/>
        </p:nvSpPr>
        <p:spPr>
          <a:xfrm>
            <a:off x="731520" y="1947672"/>
            <a:ext cx="54864" cy="7772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2" name="Text 10"/>
          <p:cNvSpPr/>
          <p:nvPr/>
        </p:nvSpPr>
        <p:spPr>
          <a:xfrm>
            <a:off x="1005840" y="1993392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Control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05840" y="2240280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--allowedTools / --disallowedTools with wildcards: Bash(git *), Edit(*.ts)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" y="2798064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5" name="Shape 13"/>
          <p:cNvSpPr/>
          <p:nvPr/>
        </p:nvSpPr>
        <p:spPr>
          <a:xfrm>
            <a:off x="731520" y="2798064"/>
            <a:ext cx="54864" cy="7772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6" name="Text 14"/>
          <p:cNvSpPr/>
          <p:nvPr/>
        </p:nvSpPr>
        <p:spPr>
          <a:xfrm>
            <a:off x="1005840" y="2843784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&amp; Schema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05840" y="3090672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--max-budget-usd for cost limits · --json-schema for structured output with validation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31520" y="3648456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9" name="Shape 17"/>
          <p:cNvSpPr/>
          <p:nvPr/>
        </p:nvSpPr>
        <p:spPr>
          <a:xfrm>
            <a:off x="731520" y="3648456"/>
            <a:ext cx="54864" cy="7772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20" name="Text 18"/>
          <p:cNvSpPr/>
          <p:nvPr/>
        </p:nvSpPr>
        <p:spPr>
          <a:xfrm>
            <a:off x="1005840" y="3694176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Worktrees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05840" y="3941064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--worktree for isolated parallel sessions · --tmux for tmux integration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640080" cy="411480"/>
          </a:xfrm>
          <a:prstGeom prst="rect">
            <a:avLst/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M10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554480" y="32004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51D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CI/CD · Dispatch · Agent SDK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 Example: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31520" y="1234440"/>
            <a:ext cx="4572000" cy="1463040"/>
          </a:xfrm>
          <a:prstGeom prst="rect">
            <a:avLst/>
          </a:prstGeom>
          <a:solidFill>
            <a:srgbClr val="1E1E2E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6" name="Text 4"/>
          <p:cNvSpPr/>
          <p:nvPr/>
        </p:nvSpPr>
        <p:spPr>
          <a:xfrm>
            <a:off x="914400" y="1280160"/>
            <a:ext cx="42062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name: Review PR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env: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ANTHROPIC_API_KEY: ${{ secrets.KEY }}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run: |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claude -p "Review this PR" \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  --output-format json \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  --max-budget-usd 1.00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0" y="914400"/>
            <a:ext cx="292608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8" name="Shape 6"/>
          <p:cNvSpPr/>
          <p:nvPr/>
        </p:nvSpPr>
        <p:spPr>
          <a:xfrm>
            <a:off x="5486400" y="914400"/>
            <a:ext cx="54864" cy="7772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9" name="Text 7"/>
          <p:cNvSpPr/>
          <p:nvPr/>
        </p:nvSpPr>
        <p:spPr>
          <a:xfrm>
            <a:off x="5669280" y="96012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669280" y="1261872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 Claude Code tasks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programmatically via REST API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0" y="1828800"/>
            <a:ext cx="292608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2" name="Shape 10"/>
          <p:cNvSpPr/>
          <p:nvPr/>
        </p:nvSpPr>
        <p:spPr>
          <a:xfrm>
            <a:off x="5486400" y="1828800"/>
            <a:ext cx="54864" cy="7772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3" name="Text 11"/>
          <p:cNvSpPr/>
          <p:nvPr/>
        </p:nvSpPr>
        <p:spPr>
          <a:xfrm>
            <a:off x="5669280" y="187452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 Tasks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669280" y="2176272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Recurring jobs on Anthropic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infrastructure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486400" y="2743200"/>
            <a:ext cx="292608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6" name="Shape 14"/>
          <p:cNvSpPr/>
          <p:nvPr/>
        </p:nvSpPr>
        <p:spPr>
          <a:xfrm>
            <a:off x="5486400" y="2743200"/>
            <a:ext cx="54864" cy="7772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7" name="Text 15"/>
          <p:cNvSpPr/>
          <p:nvPr/>
        </p:nvSpPr>
        <p:spPr>
          <a:xfrm>
            <a:off x="5669280" y="278892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SDK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669280" y="3090672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@anthropic-ai/claude-agent-sdk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library for custom agents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31520" y="411480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Session: --continue · --resume · --session-id · --fork-session · -n name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51D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731520" y="3657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6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8229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Write a GitHub Action for PR Review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6" name="Text 4"/>
          <p:cNvSpPr/>
          <p:nvPr/>
        </p:nvSpPr>
        <p:spPr>
          <a:xfrm>
            <a:off x="731520" y="16002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234440" y="1554480"/>
            <a:ext cx="713232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.github/workflows/claude-review.yml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31520" y="208788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9" name="Text 7"/>
          <p:cNvSpPr/>
          <p:nvPr/>
        </p:nvSpPr>
        <p:spPr>
          <a:xfrm>
            <a:off x="731520" y="20878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234440" y="2042160"/>
            <a:ext cx="713232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Configure: on pull_request trigger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1520" y="257556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2" name="Text 10"/>
          <p:cNvSpPr/>
          <p:nvPr/>
        </p:nvSpPr>
        <p:spPr>
          <a:xfrm>
            <a:off x="731520" y="25755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34440" y="2529840"/>
            <a:ext cx="713232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claude -p with --output-format json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31520" y="306324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5" name="Text 13"/>
          <p:cNvSpPr/>
          <p:nvPr/>
        </p:nvSpPr>
        <p:spPr>
          <a:xfrm>
            <a:off x="731520" y="30632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234440" y="3017520"/>
            <a:ext cx="713232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--max-budget-usd for cost control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31520" y="355092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8" name="Text 16"/>
          <p:cNvSpPr/>
          <p:nvPr/>
        </p:nvSpPr>
        <p:spPr>
          <a:xfrm>
            <a:off x="731520" y="35509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234440" y="3505200"/>
            <a:ext cx="713232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ANTHROPIC_API_KEY as GitHub secret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31520" y="4038600"/>
            <a:ext cx="320040" cy="320040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21" name="Text 19"/>
          <p:cNvSpPr/>
          <p:nvPr/>
        </p:nvSpPr>
        <p:spPr>
          <a:xfrm>
            <a:off x="731520" y="40386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234440" y="3992880"/>
            <a:ext cx="713232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with a sample PR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31520" y="466344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Terraform plan review, Helm chart validation in CI</a:t>
            </a:r>
            <a:endParaRPr lang="en-US" sz="11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51D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731520" y="12801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kern="0" spc="6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4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82880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Big Picture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31520" y="26517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Remote, settings, best practices, capstone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3291840"/>
            <a:ext cx="1828800" cy="36576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7" name="Text 5"/>
          <p:cNvSpPr/>
          <p:nvPr/>
        </p:nvSpPr>
        <p:spPr>
          <a:xfrm>
            <a:off x="731520" y="356616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M11 Plugins (10) · M12 Remote (15) · M13 Settings (10) · M14 Best Practices (15) · M15 Capstone (25)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9" name="Text 7"/>
          <p:cNvSpPr/>
          <p:nvPr/>
        </p:nvSpPr>
        <p:spPr>
          <a:xfrm>
            <a:off x="731520" y="486918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15:15 – 16:30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640080" cy="411480"/>
          </a:xfrm>
          <a:prstGeom prst="rect">
            <a:avLst/>
          </a:prstGeom>
          <a:solidFill>
            <a:srgbClr val="D97706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M11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554480" y="32004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51D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Plugins &amp; Marketplace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Sharing and reusing workflows across teams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457200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097280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54864" cy="77724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1005840" y="114300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 Plugin?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05840" y="1389888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 of skills, commands, hooks, agents, MCP servers. Installed as one package.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1947672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1" name="Shape 9"/>
          <p:cNvSpPr/>
          <p:nvPr/>
        </p:nvSpPr>
        <p:spPr>
          <a:xfrm>
            <a:off x="731520" y="1947672"/>
            <a:ext cx="54864" cy="77724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2" name="Text 10"/>
          <p:cNvSpPr/>
          <p:nvPr/>
        </p:nvSpPr>
        <p:spPr>
          <a:xfrm>
            <a:off x="1005840" y="1993392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Namespaced Skills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05840" y="2240280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/my-plugin:review — multiple plugins coexist. No naming conflicts.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" y="2798064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5" name="Shape 13"/>
          <p:cNvSpPr/>
          <p:nvPr/>
        </p:nvSpPr>
        <p:spPr>
          <a:xfrm>
            <a:off x="731520" y="2798064"/>
            <a:ext cx="54864" cy="77724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6" name="Text 14"/>
          <p:cNvSpPr/>
          <p:nvPr/>
        </p:nvSpPr>
        <p:spPr>
          <a:xfrm>
            <a:off x="1005840" y="2843784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&amp; Manage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05840" y="3090672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plugin install &lt;name&gt; · claude plugin list · claude plugin remove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31520" y="3648456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9" name="Shape 17"/>
          <p:cNvSpPr/>
          <p:nvPr/>
        </p:nvSpPr>
        <p:spPr>
          <a:xfrm>
            <a:off x="731520" y="3648456"/>
            <a:ext cx="54864" cy="77724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20" name="Text 18"/>
          <p:cNvSpPr/>
          <p:nvPr/>
        </p:nvSpPr>
        <p:spPr>
          <a:xfrm>
            <a:off x="1005840" y="3694176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05840" y="3941064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marketplace for shared plugins. Or create your own Git-based marketplace.</a:t>
            </a:r>
            <a:endParaRPr lang="en-US" sz="11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640080" cy="411480"/>
          </a:xfrm>
          <a:prstGeom prst="rect">
            <a:avLst/>
          </a:prstGeom>
          <a:solidFill>
            <a:srgbClr val="D97706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M11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554480" y="32004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51D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Plugin Structure &amp; Distribution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914400"/>
            <a:ext cx="3657600" cy="2377440"/>
          </a:xfrm>
          <a:prstGeom prst="rect">
            <a:avLst/>
          </a:prstGeom>
          <a:solidFill>
            <a:srgbClr val="1E1E2E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914400" y="1005840"/>
            <a:ext cx="329184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my-plugin/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.claude-plugin/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plugin.json      # Manifest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skills/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review/SKILL.md  # Skills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agents/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reviewer.md      # Subagents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hooks/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hooks.json       # Hook configs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.mcp.json            # MCP servers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README.md</a:t>
            </a:r>
            <a:endParaRPr lang="en-US" sz="10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0" y="914400"/>
          <a:ext cx="3840480" cy="91440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${CLAUDE_PLUGIN_ROOT}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Plugin installation directory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${CLAUDE_PLUGIN_DATA}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Persistent data (survives updates)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0" y="210312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use plugins: Reuse across repos · Distribute to teams · Package complex setups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 Install and explore a plugin from the marketplace</a:t>
            </a:r>
            <a:endParaRPr lang="en-US" sz="12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640080" cy="411480"/>
          </a:xfrm>
          <a:prstGeom prst="rect">
            <a:avLst/>
          </a:prstGeom>
          <a:solidFill>
            <a:srgbClr val="D97706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M12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554480" y="32004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51D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Claude Code Remote &amp; Web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without local installation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457200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097280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54864" cy="77724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1005840" y="114300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Browser-Based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05840" y="1389888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claude.ai/code — no local install needed. Available for Max/Enterprise users.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1947672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1" name="Shape 9"/>
          <p:cNvSpPr/>
          <p:nvPr/>
        </p:nvSpPr>
        <p:spPr>
          <a:xfrm>
            <a:off x="731520" y="1947672"/>
            <a:ext cx="54864" cy="77724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2" name="Text 10"/>
          <p:cNvSpPr/>
          <p:nvPr/>
        </p:nvSpPr>
        <p:spPr>
          <a:xfrm>
            <a:off x="1005840" y="1993392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Handoffs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05840" y="2240280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→ Terminal: --teleport · Terminal → Web: --remote · Ultraplan: cloud-based planning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" y="2798064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5" name="Shape 13"/>
          <p:cNvSpPr/>
          <p:nvPr/>
        </p:nvSpPr>
        <p:spPr>
          <a:xfrm>
            <a:off x="731520" y="2798064"/>
            <a:ext cx="54864" cy="77724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6" name="Text 14"/>
          <p:cNvSpPr/>
          <p:nvPr/>
        </p:nvSpPr>
        <p:spPr>
          <a:xfrm>
            <a:off x="1005840" y="2843784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Control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05840" y="3090672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sessions, pair-programming. --remote-control-session-name-prefix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31520" y="3648456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9" name="Shape 17"/>
          <p:cNvSpPr/>
          <p:nvPr/>
        </p:nvSpPr>
        <p:spPr>
          <a:xfrm>
            <a:off x="731520" y="3648456"/>
            <a:ext cx="54864" cy="77724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20" name="Text 18"/>
          <p:cNvSpPr/>
          <p:nvPr/>
        </p:nvSpPr>
        <p:spPr>
          <a:xfrm>
            <a:off x="1005840" y="3694176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Cowork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05840" y="3941064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Desktop agent for non-technical users. VM-based sandbox, local file access, multi-step workflows.</a:t>
            </a:r>
            <a:endParaRPr lang="en-US" sz="11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640080" cy="411480"/>
          </a:xfrm>
          <a:prstGeom prst="rect">
            <a:avLst/>
          </a:prstGeom>
          <a:solidFill>
            <a:srgbClr val="D97706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M12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554480" y="32004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51D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When Remote vs. Local?</a:t>
            </a:r>
            <a:endParaRPr lang="en-US" sz="24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914400"/>
          <a:ext cx="7680960" cy="91440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Choice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Onboarding new developer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 (Web)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Zero setup, instant start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Pair programming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 (shared)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Both see same session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Heavy local tooling needed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(CLI)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system access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CI/CD pipelines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Headless (CLI)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Automation, API key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Air-gapped environment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(CLI)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cloud dependency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Non-technical user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Cowork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VM sandbox, file access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31520" y="384048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 Start a Claude Code Web session and compare to local CLI</a:t>
            </a:r>
            <a:endParaRPr lang="en-US" sz="12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640080" cy="411480"/>
          </a:xfrm>
          <a:prstGeom prst="rect">
            <a:avLst/>
          </a:prstGeom>
          <a:solidFill>
            <a:srgbClr val="D97706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M13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554480" y="32004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51D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Settings, Configuration &amp; Security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and enterprise context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457200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1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097280"/>
          <a:ext cx="7680960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(highest)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Managed (Enterprise)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 directories (MDM)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 Flags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--permission-mode, --model, etc.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(Personal)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settings.local.json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 (Team)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.claude/settings.json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(lowest)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 (Global)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~/.claude/settings.json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31520" y="365760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 rules: Bash(git *)  ·  Edit(*.ts)  ·  Wildcards for fine-grained control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731520" y="402336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Tip: Corporate proxy (HTTP_PROXY), data privacy requirements</a:t>
            </a:r>
            <a:endParaRPr lang="en-US" sz="11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640080" cy="411480"/>
          </a:xfrm>
          <a:prstGeom prst="rect">
            <a:avLst/>
          </a:prstGeom>
          <a:solidFill>
            <a:srgbClr val="D97706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M14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554480" y="32004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51D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Best Practices &amp; Patterns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from experience — getting the most out of Claude Code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457200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097280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7" name="Shape 5"/>
          <p:cNvSpPr/>
          <p:nvPr/>
        </p:nvSpPr>
        <p:spPr>
          <a:xfrm>
            <a:off x="731520" y="1097280"/>
            <a:ext cx="54864" cy="77724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1005840" y="114300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Hygiene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05840" y="1389888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/clear for new tasks · /compact [focus] for long sessions · /context to inspect token costs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1947672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1" name="Shape 9"/>
          <p:cNvSpPr/>
          <p:nvPr/>
        </p:nvSpPr>
        <p:spPr>
          <a:xfrm>
            <a:off x="731520" y="1947672"/>
            <a:ext cx="54864" cy="77724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2" name="Text 10"/>
          <p:cNvSpPr/>
          <p:nvPr/>
        </p:nvSpPr>
        <p:spPr>
          <a:xfrm>
            <a:off x="1005840" y="1993392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Rot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05840" y="2240280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gets worse as conversation grows. Noise accumulates, instructions dilute. Start fresh often.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" y="2798064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5" name="Shape 13"/>
          <p:cNvSpPr/>
          <p:nvPr/>
        </p:nvSpPr>
        <p:spPr>
          <a:xfrm>
            <a:off x="731520" y="2798064"/>
            <a:ext cx="54864" cy="77724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6" name="Text 14"/>
          <p:cNvSpPr/>
          <p:nvPr/>
        </p:nvSpPr>
        <p:spPr>
          <a:xfrm>
            <a:off x="1005840" y="2843784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First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05840" y="3090672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Plan mode (Shift+Tab) for complex features. Review approach before execution.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31520" y="3648456"/>
            <a:ext cx="768096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9" name="Shape 17"/>
          <p:cNvSpPr/>
          <p:nvPr/>
        </p:nvSpPr>
        <p:spPr>
          <a:xfrm>
            <a:off x="731520" y="3648456"/>
            <a:ext cx="54864" cy="77724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20" name="Text 18"/>
          <p:cNvSpPr/>
          <p:nvPr/>
        </p:nvSpPr>
        <p:spPr>
          <a:xfrm>
            <a:off x="1005840" y="3694176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Hygiene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05840" y="3941064"/>
            <a:ext cx="7132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specific but don't micromanage. Let Claude explore. Provide examples, not step-by-step.</a:t>
            </a:r>
            <a:endParaRPr lang="en-US" sz="11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640080" cy="411480"/>
          </a:xfrm>
          <a:prstGeom prst="rect">
            <a:avLst/>
          </a:prstGeom>
          <a:solidFill>
            <a:srgbClr val="D97706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M14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554480" y="32004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51D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Feature Comparison — When to Use What</a:t>
            </a:r>
            <a:endParaRPr lang="en-US" sz="24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914400"/>
          <a:ext cx="7680960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Loaded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For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CLAUDE.md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Project-wide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 conventions, build commands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.claude/rules/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file match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Path-specific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Language-specific, directory rules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Skills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invoke/match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Reusable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Workflows, templates, automations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Subagents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delegation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Isolated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Focused tasks, parallel work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Hooks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 (event)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Deterministic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Quality gates, formatting, notifications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Plugins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enable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Distributable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 packages, marketplace sharing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31520" y="384048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Principles: Start fresh often · Plan before acting · CLAUDE.md is a team asset · Use the right abstraction level</a:t>
            </a:r>
            <a:endParaRPr lang="en-US" sz="12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640080" cy="411480"/>
          </a:xfrm>
          <a:prstGeom prst="rect">
            <a:avLst/>
          </a:prstGeom>
          <a:solidFill>
            <a:srgbClr val="D97706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M15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1554480" y="32004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51D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Capstone: Putting It All Together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empty repo to productive setup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457200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min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188720"/>
            <a:ext cx="384048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7" name="Shape 5"/>
          <p:cNvSpPr/>
          <p:nvPr/>
        </p:nvSpPr>
        <p:spPr>
          <a:xfrm>
            <a:off x="731520" y="1188720"/>
            <a:ext cx="54864" cy="91440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914400" y="12344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CLAUDE.md + Rules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164592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memory with path-specific rules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2286000"/>
            <a:ext cx="384048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1" name="Shape 9"/>
          <p:cNvSpPr/>
          <p:nvPr/>
        </p:nvSpPr>
        <p:spPr>
          <a:xfrm>
            <a:off x="731520" y="2286000"/>
            <a:ext cx="54864" cy="91440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2" name="Text 10"/>
          <p:cNvSpPr/>
          <p:nvPr/>
        </p:nvSpPr>
        <p:spPr>
          <a:xfrm>
            <a:off x="914400" y="233172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Custom Skill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914400" y="27432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SKILL.md with frontmatter, auto-invocation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" y="3383280"/>
            <a:ext cx="384048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5" name="Shape 13"/>
          <p:cNvSpPr/>
          <p:nvPr/>
        </p:nvSpPr>
        <p:spPr>
          <a:xfrm>
            <a:off x="731520" y="3383280"/>
            <a:ext cx="54864" cy="91440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6" name="Text 14"/>
          <p:cNvSpPr/>
          <p:nvPr/>
        </p:nvSpPr>
        <p:spPr>
          <a:xfrm>
            <a:off x="914400" y="34290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Subagent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14400" y="38404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reviewer with restricted tools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846320" y="1188720"/>
            <a:ext cx="384048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19" name="Shape 17"/>
          <p:cNvSpPr/>
          <p:nvPr/>
        </p:nvSpPr>
        <p:spPr>
          <a:xfrm>
            <a:off x="4846320" y="1188720"/>
            <a:ext cx="54864" cy="91440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20" name="Text 18"/>
          <p:cNvSpPr/>
          <p:nvPr/>
        </p:nvSpPr>
        <p:spPr>
          <a:xfrm>
            <a:off x="5029200" y="12344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MCP Server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029200" y="164592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GitHub or filesystem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846320" y="2286000"/>
            <a:ext cx="384048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3" name="Shape 21"/>
          <p:cNvSpPr/>
          <p:nvPr/>
        </p:nvSpPr>
        <p:spPr>
          <a:xfrm>
            <a:off x="4846320" y="2286000"/>
            <a:ext cx="54864" cy="91440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24" name="Text 22"/>
          <p:cNvSpPr/>
          <p:nvPr/>
        </p:nvSpPr>
        <p:spPr>
          <a:xfrm>
            <a:off x="5029200" y="233172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Hook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029200" y="27432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Auto-format on edit, block dangerous commands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846320" y="3383280"/>
            <a:ext cx="384048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DE"/>
          </a:p>
        </p:txBody>
      </p:sp>
      <p:sp>
        <p:nvSpPr>
          <p:cNvPr id="27" name="Shape 25"/>
          <p:cNvSpPr/>
          <p:nvPr/>
        </p:nvSpPr>
        <p:spPr>
          <a:xfrm>
            <a:off x="4846320" y="3383280"/>
            <a:ext cx="54864" cy="914400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28" name="Text 26"/>
          <p:cNvSpPr/>
          <p:nvPr/>
        </p:nvSpPr>
        <p:spPr>
          <a:xfrm>
            <a:off x="5029200" y="34290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51D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CI/CD Sketch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029200" y="38404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 YAML for PR review</a:t>
            </a:r>
            <a:endParaRPr lang="en-US" sz="11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51D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731520" y="3657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6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CRITERIA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8229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Does Your Setup Pass?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31520" y="1645920"/>
            <a:ext cx="7680960" cy="502920"/>
          </a:xfrm>
          <a:prstGeom prst="rect">
            <a:avLst/>
          </a:prstGeom>
          <a:solidFill>
            <a:srgbClr val="1A2250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6" name="Text 4"/>
          <p:cNvSpPr/>
          <p:nvPr/>
        </p:nvSpPr>
        <p:spPr>
          <a:xfrm>
            <a:off x="914400" y="1645920"/>
            <a:ext cx="365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71600" y="1645920"/>
            <a:ext cx="6858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team member gets productive just by cloning the repo?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2286000"/>
            <a:ext cx="7680960" cy="502920"/>
          </a:xfrm>
          <a:prstGeom prst="rect">
            <a:avLst/>
          </a:prstGeom>
          <a:solidFill>
            <a:srgbClr val="1A2250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9" name="Text 7"/>
          <p:cNvSpPr/>
          <p:nvPr/>
        </p:nvSpPr>
        <p:spPr>
          <a:xfrm>
            <a:off x="914400" y="2286000"/>
            <a:ext cx="365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371600" y="2286000"/>
            <a:ext cx="6858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gates enforced automatically (hooks)?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31520" y="2926080"/>
            <a:ext cx="7680960" cy="502920"/>
          </a:xfrm>
          <a:prstGeom prst="rect">
            <a:avLst/>
          </a:prstGeom>
          <a:solidFill>
            <a:srgbClr val="1A2250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2" name="Text 10"/>
          <p:cNvSpPr/>
          <p:nvPr/>
        </p:nvSpPr>
        <p:spPr>
          <a:xfrm>
            <a:off x="914400" y="2926080"/>
            <a:ext cx="365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371600" y="2926080"/>
            <a:ext cx="6858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can access relevant external systems (MCP)?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31520" y="3566160"/>
            <a:ext cx="7680960" cy="502920"/>
          </a:xfrm>
          <a:prstGeom prst="rect">
            <a:avLst/>
          </a:prstGeom>
          <a:solidFill>
            <a:srgbClr val="1A2250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5" name="Text 13"/>
          <p:cNvSpPr/>
          <p:nvPr/>
        </p:nvSpPr>
        <p:spPr>
          <a:xfrm>
            <a:off x="914400" y="3566160"/>
            <a:ext cx="365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371600" y="3566160"/>
            <a:ext cx="6858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conventions encoded, not just documented (skills)?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31520" y="438912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Everyone leaves with a working, personalized Claude Code setup</a:t>
            </a:r>
            <a:endParaRPr lang="en-US" sz="13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51D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Thank You!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3657600" y="2468880"/>
            <a:ext cx="1828800" cy="36576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5" name="Text 3"/>
          <p:cNvSpPr/>
          <p:nvPr/>
        </p:nvSpPr>
        <p:spPr>
          <a:xfrm>
            <a:off x="731520" y="27432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Deep Dive Workshop  ·  Reply  ·  2026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47472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docs.claude.com  ·  code.claude.com  ·  github.com/anthropics/claude-code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731520" y="486918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Zero to Production — The Complete Workshop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20040"/>
            <a:ext cx="640080" cy="4114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2004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554480" y="27432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51D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Installation &amp; Setup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86868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zero to first session — install, verify, connect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1371600"/>
            <a:ext cx="1828800" cy="256032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68680" y="1874520"/>
            <a:ext cx="548640" cy="0"/>
          </a:xfrm>
          <a:prstGeom prst="line">
            <a:avLst/>
          </a:prstGeom>
          <a:noFill/>
          <a:ln w="3175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14630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Install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68680" y="201168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curl | bash (macOS/Linux)</a:t>
            </a:r>
            <a:endParaRPr lang="en-US" sz="1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winget install (Windows)</a:t>
            </a:r>
            <a:endParaRPr lang="en-US" sz="1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brew install (macOS/Linux)</a:t>
            </a:r>
            <a:endParaRPr lang="en-US" sz="1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dependencies required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743200" y="1371600"/>
            <a:ext cx="1828800" cy="2560320"/>
          </a:xfrm>
          <a:prstGeom prst="roundRect">
            <a:avLst>
              <a:gd name="adj" fmla="val 4000"/>
            </a:avLst>
          </a:prstGeom>
          <a:solidFill>
            <a:srgbClr val="F0FDF4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880360" y="1874520"/>
            <a:ext cx="548640" cy="0"/>
          </a:xfrm>
          <a:prstGeom prst="line">
            <a:avLst/>
          </a:prstGeom>
          <a:noFill/>
          <a:ln w="31750">
            <a:solidFill>
              <a:srgbClr val="16A3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880360" y="14630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Requirements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880360" y="201168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macOS 13+ (Intel/Apple Silicon)</a:t>
            </a:r>
            <a:endParaRPr lang="en-US" sz="1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10/11 (x64/ARM64)</a:t>
            </a:r>
            <a:endParaRPr lang="en-US" sz="1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Linux: Ubuntu 20.04+, Debian 11+</a:t>
            </a:r>
            <a:endParaRPr lang="en-US" sz="1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GB RAM minimum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754880" y="1371600"/>
            <a:ext cx="1828800" cy="2560320"/>
          </a:xfrm>
          <a:prstGeom prst="roundRect">
            <a:avLst>
              <a:gd name="adj" fmla="val 4000"/>
            </a:avLst>
          </a:prstGeom>
          <a:solidFill>
            <a:srgbClr val="F0FDF4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892040" y="1874520"/>
            <a:ext cx="548640" cy="0"/>
          </a:xfrm>
          <a:prstGeom prst="line">
            <a:avLst/>
          </a:prstGeom>
          <a:noFill/>
          <a:ln w="31750">
            <a:solidFill>
              <a:srgbClr val="EA580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92040" y="14630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Installation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892040" y="201168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--version</a:t>
            </a:r>
            <a:endParaRPr lang="en-US" sz="1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doctor</a:t>
            </a:r>
            <a:endParaRPr lang="en-US" sz="1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update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766560" y="1371600"/>
            <a:ext cx="1828800" cy="2560320"/>
          </a:xfrm>
          <a:prstGeom prst="roundRect">
            <a:avLst>
              <a:gd name="adj" fmla="val 4000"/>
            </a:avLst>
          </a:prstGeom>
          <a:solidFill>
            <a:srgbClr val="FEFCE8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903720" y="1874520"/>
            <a:ext cx="548640" cy="0"/>
          </a:xfrm>
          <a:prstGeom prst="line">
            <a:avLst/>
          </a:prstGeom>
          <a:noFill/>
          <a:ln w="31750">
            <a:solidFill>
              <a:srgbClr val="CA8A0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903720" y="14630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 Extension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903720" y="201168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Extensions → Claude Code</a:t>
            </a:r>
            <a:endParaRPr lang="en-US" sz="1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Inline diffs &amp; checkpoints</a:t>
            </a:r>
            <a:endParaRPr lang="en-US" sz="1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code → Ask Claude</a:t>
            </a:r>
            <a:endParaRPr lang="en-US" sz="1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— terminal works alone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31520" y="45720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1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20040"/>
            <a:ext cx="640080" cy="4114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2004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554480" y="27432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51D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Authentication &amp; First Session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86868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to Claude and running your first commands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1371600"/>
            <a:ext cx="1828800" cy="256032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68680" y="1874520"/>
            <a:ext cx="548640" cy="0"/>
          </a:xfrm>
          <a:prstGeom prst="line">
            <a:avLst/>
          </a:prstGeom>
          <a:noFill/>
          <a:ln w="3175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14630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Login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68680" y="201168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claude → browser opens</a:t>
            </a:r>
            <a:endParaRPr lang="en-US" sz="1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in with Anthropic account</a:t>
            </a:r>
            <a:endParaRPr lang="en-US" sz="1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cached locally</a:t>
            </a:r>
            <a:endParaRPr lang="en-US" sz="1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for Pro/Max users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743200" y="1371600"/>
            <a:ext cx="1828800" cy="2560320"/>
          </a:xfrm>
          <a:prstGeom prst="roundRect">
            <a:avLst>
              <a:gd name="adj" fmla="val 4000"/>
            </a:avLst>
          </a:prstGeom>
          <a:solidFill>
            <a:srgbClr val="F0FDF4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880360" y="1874520"/>
            <a:ext cx="548640" cy="0"/>
          </a:xfrm>
          <a:prstGeom prst="line">
            <a:avLst/>
          </a:prstGeom>
          <a:noFill/>
          <a:ln w="31750">
            <a:solidFill>
              <a:srgbClr val="16A3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880360" y="14630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880360" y="201168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ANTHROPIC_API_KEY=sk-ant-...</a:t>
            </a:r>
            <a:endParaRPr lang="en-US" sz="1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CI/CD &amp; automation</a:t>
            </a:r>
            <a:endParaRPr lang="en-US" sz="1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console.anthropic.com</a:t>
            </a:r>
            <a:endParaRPr lang="en-US" sz="1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Pay-per-token billing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754880" y="1371600"/>
            <a:ext cx="1828800" cy="2560320"/>
          </a:xfrm>
          <a:prstGeom prst="roundRect">
            <a:avLst>
              <a:gd name="adj" fmla="val 4000"/>
            </a:avLst>
          </a:prstGeom>
          <a:solidFill>
            <a:srgbClr val="F0FDF4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892040" y="1874520"/>
            <a:ext cx="548640" cy="0"/>
          </a:xfrm>
          <a:prstGeom prst="line">
            <a:avLst/>
          </a:prstGeom>
          <a:noFill/>
          <a:ln w="31750">
            <a:solidFill>
              <a:srgbClr val="EA580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92040" y="14630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Providers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892040" y="201168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Bedrock (AWS_PROFILE)</a:t>
            </a:r>
            <a:endParaRPr lang="en-US" sz="1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Vertex AI (SA key)</a:t>
            </a:r>
            <a:endParaRPr lang="en-US" sz="1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cloud billing</a:t>
            </a:r>
            <a:endParaRPr lang="en-US" sz="1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Claude models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766560" y="1371600"/>
            <a:ext cx="1828800" cy="2560320"/>
          </a:xfrm>
          <a:prstGeom prst="roundRect">
            <a:avLst>
              <a:gd name="adj" fmla="val 4000"/>
            </a:avLst>
          </a:prstGeom>
          <a:solidFill>
            <a:srgbClr val="FEFCE8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903720" y="1874520"/>
            <a:ext cx="548640" cy="0"/>
          </a:xfrm>
          <a:prstGeom prst="line">
            <a:avLst/>
          </a:prstGeom>
          <a:noFill/>
          <a:ln w="31750">
            <a:solidFill>
              <a:srgbClr val="CA8A0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903720" y="14630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Session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903720" y="201168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/help — show all commands</a:t>
            </a:r>
            <a:endParaRPr lang="en-US" sz="1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/model — switch models</a:t>
            </a:r>
            <a:endParaRPr lang="en-US" sz="1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/cost — view token usage</a:t>
            </a:r>
            <a:endParaRPr lang="en-US" sz="1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/context — inspect loaded files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31520" y="45720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3851</Words>
  <Application>Microsoft Office PowerPoint</Application>
  <PresentationFormat>On-screen Show (16:9)</PresentationFormat>
  <Paragraphs>793</Paragraphs>
  <Slides>46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51" baseType="lpstr">
      <vt:lpstr>Arial</vt:lpstr>
      <vt:lpstr>Arial Black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Claude Code Deep Dive Workshop</dc:title>
  <dc:subject>PptxGenJS Presentation</dc:subject>
  <dc:creator>Marco Berngehrer</dc:creator>
  <cp:lastModifiedBy>Marco Berngehrer</cp:lastModifiedBy>
  <cp:revision>2</cp:revision>
  <dcterms:created xsi:type="dcterms:W3CDTF">2026-04-07T18:22:21Z</dcterms:created>
  <dcterms:modified xsi:type="dcterms:W3CDTF">2026-04-08T17:01:09Z</dcterms:modified>
</cp:coreProperties>
</file>